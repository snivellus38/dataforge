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15"/>
  </p:notes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Arimo" charset="1" panose="020B0604020202020204"/>
      <p:regular r:id="rId18"/>
    </p:embeddedFont>
    <p:embeddedFont>
      <p:font typeface="Arimo Bold" charset="1" panose="020B0704020202020204"/>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notesMasters/notesMaster1.xml" Type="http://schemas.openxmlformats.org/officeDocument/2006/relationships/notesMaster"/><Relationship Id="rId16" Target="theme/theme2.xml" Type="http://schemas.openxmlformats.org/officeDocument/2006/relationships/theme"/><Relationship Id="rId17" Target="notesSlides/notesSlide1.xml" Type="http://schemas.openxmlformats.org/officeDocument/2006/relationships/notesSlide"/><Relationship Id="rId18" Target="fonts/font18.fntdata" Type="http://schemas.openxmlformats.org/officeDocument/2006/relationships/font"/><Relationship Id="rId19" Target="notesSlides/notesSlide2.xml" Type="http://schemas.openxmlformats.org/officeDocument/2006/relationships/notesSlide"/><Relationship Id="rId2" Target="presProps.xml" Type="http://schemas.openxmlformats.org/officeDocument/2006/relationships/presProps"/><Relationship Id="rId20" Target="fonts/font20.fntdata" Type="http://schemas.openxmlformats.org/officeDocument/2006/relationships/font"/><Relationship Id="rId21" Target="notesSlides/notesSlide3.xml" Type="http://schemas.openxmlformats.org/officeDocument/2006/relationships/notesSlide"/><Relationship Id="rId22" Target="notesSlides/notesSlide4.xml" Type="http://schemas.openxmlformats.org/officeDocument/2006/relationships/notesSlide"/><Relationship Id="rId23" Target="notesSlides/notesSlide5.xml" Type="http://schemas.openxmlformats.org/officeDocument/2006/relationships/notesSlide"/><Relationship Id="rId24" Target="notesSlides/notesSlide6.xml" Type="http://schemas.openxmlformats.org/officeDocument/2006/relationships/notesSlide"/><Relationship Id="rId25" Target="notesSlides/notesSlide7.xml" Type="http://schemas.openxmlformats.org/officeDocument/2006/relationships/notesSlide"/><Relationship Id="rId26" Target="notesSlides/notesSlide8.xml" Type="http://schemas.openxmlformats.org/officeDocument/2006/relationships/notesSlide"/><Relationship Id="rId27" Target="notesSlides/notesSlide9.xml" Type="http://schemas.openxmlformats.org/officeDocument/2006/relationships/notesSlide"/><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0:20 — Our name is a nod to "Attention Is All You Need". BDH, the Dragon Hatchling, is Pathway's post-Transformer architecture, and it is what we built on.</a:t>
            </a:r>
          </a:p>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1:00 — Open with the brief: one frontier idea made to click, tied to BDH. Then the pipeline — nothing on the site is typed by hand, every number comes out of a script you can rerun.</a:t>
            </a:r>
          </a:p>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1:00 — The 8M model is weight-tied: its six layers are one operator applied six times. It has two deviations from reference BDH: a learned positional embedding, and no decay term. Always say the out-of-domain result straight after the in-domain one. It is a specialist.</a:t>
            </a:r>
          </a:p>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0:50 — 5.13% active is measured over 55,959,552 neuron-token slots, and the training run's own probe independently ends at 5.09%. Only that endpoint is independently reproduced; the curve's shape is the evidence. Weight tying is the part that surprises people: the total is 3·H·D·N + 2·vocab·D, with no n_layer term anywhere. If asked about the merge experiment: it is in the repository, not on a slide — loss goes 0.785 to 1127.6 because our two models were trained independently from scratch, outside the precondition that recipe assumes.</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0:50 — Lead with the sparsity curve: it collapses from half the network to 3.1% in the first 2,500 steps, then settles at 5.1%, and there is no sparsity term anywhere in the loss. Under the same test GPT-2 is 86.3% active. Only the endpoint is independently reproduced (5.13% on the full export); the curve's shape is the evidence. If asked why it beats BLOOM: it is a specialist trained on this distribution — out of domain it comes last, and that is on the limits slide.</a:t>
            </a:r>
          </a:p>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0:50 — At the model's own 512-byte training context, σ is 12× the cache. Constant memory pays off only past 6,144 bytes, which is half the neuron count. If the claim holds, deleting one example from the prompt should change the answer while every weight stays frozen. You will see that in two minutes.</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1:10 — Non-negative keys stay at 48% recall with 128 bindings stored. Signed keys in the same state stay at 100% up to 256. Their mean overlap is +0.32, which is 1/π. That is the second half of our claim: BDH's readability costs memory, and we measured the rate.</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Backup — If asked "isn't this just Mamba?": no. The problem statement asks teams not to classify BDH as an SSM in the Mamba sense. BDH-GPU is built from ReLU low-rank transformations with linear attention.</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0:20 on the slide, then a 3:30 demo — "Let me show you." Switch to the browser.</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https://demonstrations-are-weights.vercel.app" TargetMode="External" Type="http://schemas.openxmlformats.org/officeDocument/2006/relationships/hyperlink"/><Relationship Id="rId4" Target="https://github.com/snivellus38/DataForge" TargetMode="External" Type="http://schemas.openxmlformats.org/officeDocument/2006/relationships/hyperlink"/></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2.png" Type="http://schemas.openxmlformats.org/officeDocument/2006/relationships/image"/><Relationship Id="rId4" Target="../media/image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3.png" Type="http://schemas.openxmlformats.org/officeDocument/2006/relationships/image"/><Relationship Id="rId4" Target="../media/image1.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4.png" Type="http://schemas.openxmlformats.org/officeDocument/2006/relationships/image"/><Relationship Id="rId4" Target="../media/image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5.png" Type="http://schemas.openxmlformats.org/officeDocument/2006/relationships/image"/><Relationship Id="rId4" Target="../media/image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6.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7.png" Type="http://schemas.openxmlformats.org/officeDocument/2006/relationships/image"/><Relationship Id="rId4" Target="../media/image8.png" Type="http://schemas.openxmlformats.org/officeDocument/2006/relationships/image"/><Relationship Id="rId5" Target="../media/image9.png" Type="http://schemas.openxmlformats.org/officeDocument/2006/relationships/image"/><Relationship Id="rId6" Target="../media/image1.png" Type="http://schemas.openxmlformats.org/officeDocument/2006/relationships/image"/><Relationship Id="rId7" Target="https://demonstrations-are-weights.vercel.app"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5EAD8"/>
        </a:solidFill>
      </p:bgPr>
    </p:bg>
    <p:spTree>
      <p:nvGrpSpPr>
        <p:cNvPr id="1" name=""/>
        <p:cNvGrpSpPr/>
        <p:nvPr/>
      </p:nvGrpSpPr>
      <p:grpSpPr>
        <a:xfrm>
          <a:off x="0" y="0"/>
          <a:ext cx="0" cy="0"/>
          <a:chOff x="0" y="0"/>
          <a:chExt cx="0" cy="0"/>
        </a:xfrm>
      </p:grpSpPr>
      <p:grpSp>
        <p:nvGrpSpPr>
          <p:cNvPr name="Group 2" id="2"/>
          <p:cNvGrpSpPr/>
          <p:nvPr/>
        </p:nvGrpSpPr>
        <p:grpSpPr>
          <a:xfrm rot="0">
            <a:off x="11430000" y="323850"/>
            <a:ext cx="9620250" cy="9620250"/>
            <a:chOff x="0" y="0"/>
            <a:chExt cx="12827000" cy="12827000"/>
          </a:xfrm>
        </p:grpSpPr>
        <p:sp>
          <p:nvSpPr>
            <p:cNvPr name="Freeform 3" id="3"/>
            <p:cNvSpPr/>
            <p:nvPr/>
          </p:nvSpPr>
          <p:spPr>
            <a:xfrm flipH="false" flipV="false" rot="0">
              <a:off x="0" y="0"/>
              <a:ext cx="12827000" cy="12827000"/>
            </a:xfrm>
            <a:custGeom>
              <a:avLst/>
              <a:gdLst/>
              <a:ahLst/>
              <a:cxnLst/>
              <a:rect r="r" b="b" t="t" l="l"/>
              <a:pathLst>
                <a:path h="12827000" w="12827000">
                  <a:moveTo>
                    <a:pt x="0" y="6413500"/>
                  </a:moveTo>
                  <a:cubicBezTo>
                    <a:pt x="0" y="2871470"/>
                    <a:pt x="2871470" y="0"/>
                    <a:pt x="6413500" y="0"/>
                  </a:cubicBezTo>
                  <a:cubicBezTo>
                    <a:pt x="9955530" y="0"/>
                    <a:pt x="12827000" y="2871470"/>
                    <a:pt x="12827000" y="6413500"/>
                  </a:cubicBezTo>
                  <a:cubicBezTo>
                    <a:pt x="12827000" y="9955530"/>
                    <a:pt x="9955530" y="12827000"/>
                    <a:pt x="6413500" y="12827000"/>
                  </a:cubicBezTo>
                  <a:cubicBezTo>
                    <a:pt x="2871470" y="12827000"/>
                    <a:pt x="0" y="9955530"/>
                    <a:pt x="0" y="6413500"/>
                  </a:cubicBezTo>
                  <a:close/>
                </a:path>
              </a:pathLst>
            </a:custGeom>
            <a:solidFill>
              <a:srgbClr val="F0FAE1"/>
            </a:solidFill>
          </p:spPr>
        </p:sp>
      </p:grpSp>
      <p:grpSp>
        <p:nvGrpSpPr>
          <p:cNvPr name="Group 4" id="4"/>
          <p:cNvGrpSpPr/>
          <p:nvPr/>
        </p:nvGrpSpPr>
        <p:grpSpPr>
          <a:xfrm rot="0">
            <a:off x="8858250" y="7810500"/>
            <a:ext cx="4095750" cy="4095750"/>
            <a:chOff x="0" y="0"/>
            <a:chExt cx="5461000" cy="5461000"/>
          </a:xfrm>
        </p:grpSpPr>
        <p:sp>
          <p:nvSpPr>
            <p:cNvPr name="Freeform 5" id="5"/>
            <p:cNvSpPr/>
            <p:nvPr/>
          </p:nvSpPr>
          <p:spPr>
            <a:xfrm flipH="false" flipV="false" rot="0">
              <a:off x="0" y="0"/>
              <a:ext cx="5461000" cy="5461000"/>
            </a:xfrm>
            <a:custGeom>
              <a:avLst/>
              <a:gdLst/>
              <a:ahLst/>
              <a:cxnLst/>
              <a:rect r="r" b="b" t="t" l="l"/>
              <a:pathLst>
                <a:path h="5461000" w="5461000">
                  <a:moveTo>
                    <a:pt x="0" y="2730500"/>
                  </a:moveTo>
                  <a:cubicBezTo>
                    <a:pt x="0" y="1222502"/>
                    <a:pt x="1222502" y="0"/>
                    <a:pt x="2730500" y="0"/>
                  </a:cubicBezTo>
                  <a:cubicBezTo>
                    <a:pt x="4238498" y="0"/>
                    <a:pt x="5461000" y="1222502"/>
                    <a:pt x="5461000" y="2730500"/>
                  </a:cubicBezTo>
                  <a:cubicBezTo>
                    <a:pt x="5461000" y="4238498"/>
                    <a:pt x="4238498" y="5461000"/>
                    <a:pt x="2730500" y="5461000"/>
                  </a:cubicBezTo>
                  <a:cubicBezTo>
                    <a:pt x="1222502" y="5461000"/>
                    <a:pt x="0" y="4238498"/>
                    <a:pt x="0" y="2730500"/>
                  </a:cubicBezTo>
                  <a:close/>
                </a:path>
              </a:pathLst>
            </a:custGeom>
            <a:solidFill>
              <a:srgbClr val="FFF2EB"/>
            </a:solidFill>
          </p:spPr>
        </p:sp>
      </p:grpSp>
      <p:sp>
        <p:nvSpPr>
          <p:cNvPr name="TextBox 6" id="6"/>
          <p:cNvSpPr txBox="true"/>
          <p:nvPr/>
        </p:nvSpPr>
        <p:spPr>
          <a:xfrm rot="0">
            <a:off x="1092203" y="790270"/>
            <a:ext cx="5985363" cy="400659"/>
          </a:xfrm>
          <a:prstGeom prst="rect">
            <a:avLst/>
          </a:prstGeom>
        </p:spPr>
        <p:txBody>
          <a:bodyPr anchor="t" rtlCol="false" tIns="0" lIns="0" bIns="0" rIns="0">
            <a:spAutoFit/>
          </a:bodyPr>
          <a:lstStyle/>
          <a:p>
            <a:pPr algn="l">
              <a:lnSpc>
                <a:spcPts val="3280"/>
              </a:lnSpc>
            </a:pPr>
            <a:r>
              <a:rPr lang="en-US" sz="2175" spc="174">
                <a:solidFill>
                  <a:srgbClr val="8C491A"/>
                </a:solidFill>
                <a:latin typeface="Arimo"/>
                <a:ea typeface="Arimo"/>
                <a:cs typeface="Arimo"/>
                <a:sym typeface="Arimo"/>
              </a:rPr>
              <a:t>DATAFORGE 2026 · PATHWAY TRACK</a:t>
            </a:r>
          </a:p>
        </p:txBody>
      </p:sp>
      <p:sp>
        <p:nvSpPr>
          <p:cNvPr name="TextBox 7" id="7"/>
          <p:cNvSpPr txBox="true"/>
          <p:nvPr/>
        </p:nvSpPr>
        <p:spPr>
          <a:xfrm rot="0">
            <a:off x="1092203" y="3250568"/>
            <a:ext cx="10152383" cy="1897066"/>
          </a:xfrm>
          <a:prstGeom prst="rect">
            <a:avLst/>
          </a:prstGeom>
        </p:spPr>
        <p:txBody>
          <a:bodyPr anchor="t" rtlCol="false" tIns="0" lIns="0" bIns="0" rIns="0">
            <a:spAutoFit/>
          </a:bodyPr>
          <a:lstStyle/>
          <a:p>
            <a:pPr algn="l">
              <a:lnSpc>
                <a:spcPts val="8021"/>
              </a:lnSpc>
            </a:pPr>
            <a:r>
              <a:rPr lang="en-US" sz="7200" spc="-107">
                <a:solidFill>
                  <a:srgbClr val="201E1D"/>
                </a:solidFill>
                <a:latin typeface="Arimo"/>
                <a:ea typeface="Arimo"/>
                <a:cs typeface="Arimo"/>
                <a:sym typeface="Arimo"/>
              </a:rPr>
              <a:t>Hatchling is All We Need</a:t>
            </a:r>
          </a:p>
        </p:txBody>
      </p:sp>
      <p:sp>
        <p:nvSpPr>
          <p:cNvPr name="TextBox 8" id="8"/>
          <p:cNvSpPr txBox="true"/>
          <p:nvPr/>
        </p:nvSpPr>
        <p:spPr>
          <a:xfrm rot="0">
            <a:off x="1092203" y="5345116"/>
            <a:ext cx="7118280" cy="1487424"/>
          </a:xfrm>
          <a:prstGeom prst="rect">
            <a:avLst/>
          </a:prstGeom>
        </p:spPr>
        <p:txBody>
          <a:bodyPr anchor="t" rtlCol="false" tIns="0" lIns="0" bIns="0" rIns="0">
            <a:spAutoFit/>
          </a:bodyPr>
          <a:lstStyle/>
          <a:p>
            <a:pPr algn="l">
              <a:lnSpc>
                <a:spcPts val="3933"/>
              </a:lnSpc>
            </a:pPr>
            <a:r>
              <a:rPr lang="en-US" sz="2850">
                <a:solidFill>
                  <a:srgbClr val="474238"/>
                </a:solidFill>
                <a:latin typeface="Arimo"/>
                <a:ea typeface="Arimo"/>
                <a:cs typeface="Arimo"/>
                <a:sym typeface="Arimo"/>
              </a:rPr>
              <a:t>Demonstrations Are Weights </a:t>
            </a:r>
          </a:p>
          <a:p>
            <a:pPr algn="l">
              <a:lnSpc>
                <a:spcPts val="3933"/>
              </a:lnSpc>
            </a:pPr>
            <a:r>
              <a:rPr lang="en-US" sz="2850">
                <a:solidFill>
                  <a:srgbClr val="474238"/>
                </a:solidFill>
                <a:latin typeface="Arimo"/>
                <a:ea typeface="Arimo"/>
                <a:cs typeface="Arimo"/>
                <a:sym typeface="Arimo"/>
              </a:rPr>
              <a:t>A frozen model that learns a new rule from its prompt, and what that costs.</a:t>
            </a:r>
          </a:p>
        </p:txBody>
      </p:sp>
      <p:sp>
        <p:nvSpPr>
          <p:cNvPr name="TextBox 9" id="9"/>
          <p:cNvSpPr txBox="true"/>
          <p:nvPr/>
        </p:nvSpPr>
        <p:spPr>
          <a:xfrm rot="0">
            <a:off x="13222767" y="8885558"/>
            <a:ext cx="3938945" cy="299498"/>
          </a:xfrm>
          <a:prstGeom prst="rect">
            <a:avLst/>
          </a:prstGeom>
        </p:spPr>
        <p:txBody>
          <a:bodyPr anchor="t" rtlCol="false" tIns="0" lIns="0" bIns="0" rIns="0">
            <a:spAutoFit/>
          </a:bodyPr>
          <a:lstStyle/>
          <a:p>
            <a:pPr algn="l">
              <a:lnSpc>
                <a:spcPts val="2276"/>
              </a:lnSpc>
            </a:pPr>
            <a:r>
              <a:rPr lang="en-US" sz="1800" u="sng">
                <a:solidFill>
                  <a:srgbClr val="645C50"/>
                </a:solidFill>
                <a:latin typeface="Arimo"/>
                <a:ea typeface="Arimo"/>
                <a:cs typeface="Arimo"/>
                <a:sym typeface="Arimo"/>
                <a:hlinkClick r:id="rId3" tooltip="https://demonstrations-are-weights.vercel.app"/>
              </a:rPr>
              <a:t>demonstrations-are-weights.vercel.app</a:t>
            </a:r>
          </a:p>
        </p:txBody>
      </p:sp>
      <p:sp>
        <p:nvSpPr>
          <p:cNvPr name="TextBox 10" id="10"/>
          <p:cNvSpPr txBox="true"/>
          <p:nvPr/>
        </p:nvSpPr>
        <p:spPr>
          <a:xfrm rot="0">
            <a:off x="13712114" y="9224648"/>
            <a:ext cx="3456265" cy="299498"/>
          </a:xfrm>
          <a:prstGeom prst="rect">
            <a:avLst/>
          </a:prstGeom>
        </p:spPr>
        <p:txBody>
          <a:bodyPr anchor="t" rtlCol="false" tIns="0" lIns="0" bIns="0" rIns="0">
            <a:spAutoFit/>
          </a:bodyPr>
          <a:lstStyle/>
          <a:p>
            <a:pPr algn="l">
              <a:lnSpc>
                <a:spcPts val="2276"/>
              </a:lnSpc>
            </a:pPr>
            <a:r>
              <a:rPr lang="en-US" sz="1800" u="sng">
                <a:solidFill>
                  <a:srgbClr val="645C50"/>
                </a:solidFill>
                <a:latin typeface="Arimo"/>
                <a:ea typeface="Arimo"/>
                <a:cs typeface="Arimo"/>
                <a:sym typeface="Arimo"/>
                <a:hlinkClick r:id="rId4" tooltip="https://github.com/snivellus38/DataForge"/>
              </a:rPr>
              <a:t>github.com/snivellus38/DataForge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5EAD8"/>
        </a:solidFill>
      </p:bgPr>
    </p:bg>
    <p:spTree>
      <p:nvGrpSpPr>
        <p:cNvPr id="1" name=""/>
        <p:cNvGrpSpPr/>
        <p:nvPr/>
      </p:nvGrpSpPr>
      <p:grpSpPr>
        <a:xfrm>
          <a:off x="0" y="0"/>
          <a:ext cx="0" cy="0"/>
          <a:chOff x="0" y="0"/>
          <a:chExt cx="0" cy="0"/>
        </a:xfrm>
      </p:grpSpPr>
      <p:sp>
        <p:nvSpPr>
          <p:cNvPr name="TextBox 2" id="2"/>
          <p:cNvSpPr txBox="true"/>
          <p:nvPr/>
        </p:nvSpPr>
        <p:spPr>
          <a:xfrm rot="0">
            <a:off x="1092203" y="844553"/>
            <a:ext cx="15253973" cy="1178881"/>
          </a:xfrm>
          <a:prstGeom prst="rect">
            <a:avLst/>
          </a:prstGeom>
        </p:spPr>
        <p:txBody>
          <a:bodyPr anchor="t" rtlCol="false" tIns="0" lIns="0" bIns="0" rIns="0">
            <a:spAutoFit/>
          </a:bodyPr>
          <a:lstStyle/>
          <a:p>
            <a:pPr algn="l">
              <a:lnSpc>
                <a:spcPts val="4856"/>
              </a:lnSpc>
            </a:pPr>
            <a:r>
              <a:rPr lang="en-US" sz="4050">
                <a:solidFill>
                  <a:srgbClr val="201E1D"/>
                </a:solidFill>
                <a:latin typeface="Arimo"/>
                <a:ea typeface="Arimo"/>
                <a:cs typeface="Arimo"/>
                <a:sym typeface="Arimo"/>
              </a:rPr>
              <a:t>Two models, a three-page site, and every number traceable to a script.</a:t>
            </a:r>
          </a:p>
        </p:txBody>
      </p:sp>
      <p:grpSp>
        <p:nvGrpSpPr>
          <p:cNvPr name="Group 3" id="3"/>
          <p:cNvGrpSpPr/>
          <p:nvPr/>
        </p:nvGrpSpPr>
        <p:grpSpPr>
          <a:xfrm rot="0">
            <a:off x="1066800" y="2262188"/>
            <a:ext cx="16154400" cy="2239328"/>
            <a:chOff x="0" y="0"/>
            <a:chExt cx="21539200" cy="2985770"/>
          </a:xfrm>
        </p:grpSpPr>
        <p:sp>
          <p:nvSpPr>
            <p:cNvPr name="Freeform 4" id="4"/>
            <p:cNvSpPr/>
            <p:nvPr/>
          </p:nvSpPr>
          <p:spPr>
            <a:xfrm flipH="false" flipV="false" rot="0">
              <a:off x="0" y="0"/>
              <a:ext cx="21539200" cy="2985770"/>
            </a:xfrm>
            <a:custGeom>
              <a:avLst/>
              <a:gdLst/>
              <a:ahLst/>
              <a:cxnLst/>
              <a:rect r="r" b="b" t="t" l="l"/>
              <a:pathLst>
                <a:path h="2985770" w="21539200">
                  <a:moveTo>
                    <a:pt x="0" y="355600"/>
                  </a:moveTo>
                  <a:cubicBezTo>
                    <a:pt x="0" y="159258"/>
                    <a:pt x="159258" y="0"/>
                    <a:pt x="355600" y="0"/>
                  </a:cubicBezTo>
                  <a:lnTo>
                    <a:pt x="21183600" y="0"/>
                  </a:lnTo>
                  <a:cubicBezTo>
                    <a:pt x="21379942" y="0"/>
                    <a:pt x="21539200" y="159258"/>
                    <a:pt x="21539200" y="355600"/>
                  </a:cubicBezTo>
                  <a:lnTo>
                    <a:pt x="21539200" y="2630170"/>
                  </a:lnTo>
                  <a:cubicBezTo>
                    <a:pt x="21539200" y="2826512"/>
                    <a:pt x="21379942" y="2985770"/>
                    <a:pt x="21183600" y="2985770"/>
                  </a:cubicBezTo>
                  <a:lnTo>
                    <a:pt x="355600" y="2985770"/>
                  </a:lnTo>
                  <a:cubicBezTo>
                    <a:pt x="159258" y="2985770"/>
                    <a:pt x="0" y="2826512"/>
                    <a:pt x="0" y="2630170"/>
                  </a:cubicBezTo>
                  <a:close/>
                </a:path>
              </a:pathLst>
            </a:custGeom>
            <a:solidFill>
              <a:srgbClr val="EBDDC5"/>
            </a:solidFill>
          </p:spPr>
        </p:sp>
      </p:grpSp>
      <p:sp>
        <p:nvSpPr>
          <p:cNvPr name="TextBox 5" id="5"/>
          <p:cNvSpPr txBox="true"/>
          <p:nvPr/>
        </p:nvSpPr>
        <p:spPr>
          <a:xfrm rot="0">
            <a:off x="1473203" y="2420941"/>
            <a:ext cx="16880843" cy="417833"/>
          </a:xfrm>
          <a:prstGeom prst="rect">
            <a:avLst/>
          </a:prstGeom>
        </p:spPr>
        <p:txBody>
          <a:bodyPr anchor="t" rtlCol="false" tIns="0" lIns="0" bIns="0" rIns="0">
            <a:spAutoFit/>
          </a:bodyPr>
          <a:lstStyle/>
          <a:p>
            <a:pPr algn="l">
              <a:lnSpc>
                <a:spcPts val="2714"/>
              </a:lnSpc>
            </a:pPr>
            <a:r>
              <a:rPr lang="en-US" sz="1800" spc="144">
                <a:solidFill>
                  <a:srgbClr val="8C491A"/>
                </a:solidFill>
                <a:latin typeface="Arimo"/>
                <a:ea typeface="Arimo"/>
                <a:cs typeface="Arimo"/>
                <a:sym typeface="Arimo"/>
              </a:rPr>
              <a:t>WHAT WE WERE ASKED FOR</a:t>
            </a:r>
          </a:p>
        </p:txBody>
      </p:sp>
      <p:sp>
        <p:nvSpPr>
          <p:cNvPr name="TextBox 6" id="6"/>
          <p:cNvSpPr txBox="true"/>
          <p:nvPr/>
        </p:nvSpPr>
        <p:spPr>
          <a:xfrm rot="0">
            <a:off x="1473203" y="2887666"/>
            <a:ext cx="15253973" cy="634757"/>
          </a:xfrm>
          <a:prstGeom prst="rect">
            <a:avLst/>
          </a:prstGeom>
        </p:spPr>
        <p:txBody>
          <a:bodyPr anchor="t" rtlCol="false" tIns="0" lIns="0" bIns="0" rIns="0">
            <a:spAutoFit/>
          </a:bodyPr>
          <a:lstStyle/>
          <a:p>
            <a:pPr algn="l">
              <a:lnSpc>
                <a:spcPts val="2486"/>
              </a:lnSpc>
            </a:pPr>
            <a:r>
              <a:rPr lang="en-US" sz="1800">
                <a:solidFill>
                  <a:srgbClr val="201E1D"/>
                </a:solidFill>
                <a:latin typeface="Arimo"/>
                <a:ea typeface="Arimo"/>
                <a:cs typeface="Arimo"/>
                <a:sym typeface="Arimo"/>
              </a:rPr>
              <a:t>Pathway's brief: take </a:t>
            </a:r>
            <a:r>
              <a:rPr lang="en-US" sz="1800" b="true">
                <a:solidFill>
                  <a:srgbClr val="201E1D"/>
                </a:solidFill>
                <a:latin typeface="Arimo Bold"/>
                <a:ea typeface="Arimo Bold"/>
                <a:cs typeface="Arimo Bold"/>
                <a:sym typeface="Arimo Bold"/>
              </a:rPr>
              <a:t>one frontier idea and make it click . </a:t>
            </a:r>
            <a:r>
              <a:rPr lang="en-US" sz="1800">
                <a:solidFill>
                  <a:srgbClr val="201E1D"/>
                </a:solidFill>
                <a:latin typeface="Arimo"/>
                <a:ea typeface="Arimo"/>
                <a:cs typeface="Arimo"/>
                <a:sym typeface="Arimo"/>
              </a:rPr>
              <a:t> A falsiable claim, a variable the learner can change, a real section on BDH, and every number labelled by how far it can be trusted.</a:t>
            </a:r>
          </a:p>
        </p:txBody>
      </p:sp>
      <p:sp>
        <p:nvSpPr>
          <p:cNvPr name="TextBox 7" id="7"/>
          <p:cNvSpPr txBox="true"/>
          <p:nvPr/>
        </p:nvSpPr>
        <p:spPr>
          <a:xfrm rot="0">
            <a:off x="1473203" y="3620614"/>
            <a:ext cx="15253973" cy="634757"/>
          </a:xfrm>
          <a:prstGeom prst="rect">
            <a:avLst/>
          </a:prstGeom>
        </p:spPr>
        <p:txBody>
          <a:bodyPr anchor="t" rtlCol="false" tIns="0" lIns="0" bIns="0" rIns="0">
            <a:spAutoFit/>
          </a:bodyPr>
          <a:lstStyle/>
          <a:p>
            <a:pPr algn="l">
              <a:lnSpc>
                <a:spcPts val="2486"/>
              </a:lnSpc>
            </a:pPr>
            <a:r>
              <a:rPr lang="en-US" sz="1800">
                <a:solidFill>
                  <a:srgbClr val="201E1D"/>
                </a:solidFill>
                <a:latin typeface="Arimo"/>
                <a:ea typeface="Arimo"/>
                <a:cs typeface="Arimo"/>
                <a:sym typeface="Arimo"/>
              </a:rPr>
              <a:t>That is exactly why we picked: </a:t>
            </a:r>
            <a:r>
              <a:rPr lang="en-US" sz="1800" b="true">
                <a:solidFill>
                  <a:srgbClr val="201E1D"/>
                </a:solidFill>
                <a:latin typeface="Arimo Bold"/>
                <a:ea typeface="Arimo Bold"/>
                <a:cs typeface="Arimo Bold"/>
                <a:sym typeface="Arimo Bold"/>
              </a:rPr>
              <a:t>Test-Time Adaptation, optimization versus context. </a:t>
            </a:r>
            <a:r>
              <a:rPr lang="en-US" sz="1800">
                <a:solidFill>
                  <a:srgbClr val="201E1D"/>
                </a:solidFill>
                <a:latin typeface="Arimo"/>
                <a:ea typeface="Arimo"/>
                <a:cs typeface="Arimo"/>
                <a:sym typeface="Arimo"/>
              </a:rPr>
              <a:t>Fine-tuning changes the weights; we show a prompt doing the same job with the weights frozen, and measure the cost .</a:t>
            </a:r>
          </a:p>
        </p:txBody>
      </p:sp>
      <p:grpSp>
        <p:nvGrpSpPr>
          <p:cNvPr name="Group 8" id="8"/>
          <p:cNvGrpSpPr/>
          <p:nvPr/>
        </p:nvGrpSpPr>
        <p:grpSpPr>
          <a:xfrm rot="0">
            <a:off x="1066800" y="4752975"/>
            <a:ext cx="3867150" cy="3341370"/>
            <a:chOff x="0" y="0"/>
            <a:chExt cx="5156200" cy="4455160"/>
          </a:xfrm>
        </p:grpSpPr>
        <p:sp>
          <p:nvSpPr>
            <p:cNvPr name="Freeform 9" id="9"/>
            <p:cNvSpPr/>
            <p:nvPr/>
          </p:nvSpPr>
          <p:spPr>
            <a:xfrm flipH="false" flipV="false" rot="0">
              <a:off x="0" y="0"/>
              <a:ext cx="5156200" cy="4455160"/>
            </a:xfrm>
            <a:custGeom>
              <a:avLst/>
              <a:gdLst/>
              <a:ahLst/>
              <a:cxnLst/>
              <a:rect r="r" b="b" t="t" l="l"/>
              <a:pathLst>
                <a:path h="4455160" w="5156200">
                  <a:moveTo>
                    <a:pt x="0" y="355600"/>
                  </a:moveTo>
                  <a:cubicBezTo>
                    <a:pt x="0" y="159258"/>
                    <a:pt x="159258" y="0"/>
                    <a:pt x="355600" y="0"/>
                  </a:cubicBezTo>
                  <a:lnTo>
                    <a:pt x="4800600" y="0"/>
                  </a:lnTo>
                  <a:cubicBezTo>
                    <a:pt x="4996942" y="0"/>
                    <a:pt x="5156200" y="159258"/>
                    <a:pt x="5156200" y="355600"/>
                  </a:cubicBezTo>
                  <a:lnTo>
                    <a:pt x="5156200" y="4099560"/>
                  </a:lnTo>
                  <a:cubicBezTo>
                    <a:pt x="5156200" y="4295902"/>
                    <a:pt x="4996942" y="4455160"/>
                    <a:pt x="4800600" y="4455160"/>
                  </a:cubicBezTo>
                  <a:lnTo>
                    <a:pt x="355600" y="4455160"/>
                  </a:lnTo>
                  <a:cubicBezTo>
                    <a:pt x="159258" y="4455160"/>
                    <a:pt x="0" y="4295902"/>
                    <a:pt x="0" y="4099560"/>
                  </a:cubicBezTo>
                  <a:close/>
                </a:path>
              </a:pathLst>
            </a:custGeom>
            <a:solidFill>
              <a:srgbClr val="EBDDC5"/>
            </a:solidFill>
          </p:spPr>
        </p:sp>
      </p:grpSp>
      <p:sp>
        <p:nvSpPr>
          <p:cNvPr name="TextBox 10" id="10"/>
          <p:cNvSpPr txBox="true"/>
          <p:nvPr/>
        </p:nvSpPr>
        <p:spPr>
          <a:xfrm rot="0">
            <a:off x="1397003" y="4940303"/>
            <a:ext cx="3532508" cy="427358"/>
          </a:xfrm>
          <a:prstGeom prst="rect">
            <a:avLst/>
          </a:prstGeom>
        </p:spPr>
        <p:txBody>
          <a:bodyPr anchor="t" rtlCol="false" tIns="0" lIns="0" bIns="0" rIns="0">
            <a:spAutoFit/>
          </a:bodyPr>
          <a:lstStyle/>
          <a:p>
            <a:pPr algn="l">
              <a:lnSpc>
                <a:spcPts val="2869"/>
              </a:lnSpc>
            </a:pPr>
            <a:r>
              <a:rPr lang="en-US" sz="1800">
                <a:solidFill>
                  <a:srgbClr val="8C491A"/>
                </a:solidFill>
                <a:latin typeface="Arimo"/>
                <a:ea typeface="Arimo"/>
                <a:cs typeface="Arimo"/>
                <a:sym typeface="Arimo"/>
              </a:rPr>
              <a:t>01</a:t>
            </a:r>
          </a:p>
        </p:txBody>
      </p:sp>
      <p:sp>
        <p:nvSpPr>
          <p:cNvPr name="TextBox 11" id="11"/>
          <p:cNvSpPr txBox="true"/>
          <p:nvPr/>
        </p:nvSpPr>
        <p:spPr>
          <a:xfrm rot="0">
            <a:off x="1397003" y="5496563"/>
            <a:ext cx="3532508" cy="316868"/>
          </a:xfrm>
          <a:prstGeom prst="rect">
            <a:avLst/>
          </a:prstGeom>
        </p:spPr>
        <p:txBody>
          <a:bodyPr anchor="t" rtlCol="false" tIns="0" lIns="0" bIns="0" rIns="0">
            <a:spAutoFit/>
          </a:bodyPr>
          <a:lstStyle/>
          <a:p>
            <a:pPr algn="l">
              <a:lnSpc>
                <a:spcPts val="2637"/>
              </a:lnSpc>
            </a:pPr>
            <a:r>
              <a:rPr lang="en-US" sz="2250" spc="-33">
                <a:solidFill>
                  <a:srgbClr val="201E1D"/>
                </a:solidFill>
                <a:latin typeface="Arimo"/>
                <a:ea typeface="Arimo"/>
                <a:cs typeface="Arimo"/>
                <a:sym typeface="Arimo"/>
              </a:rPr>
              <a:t>Train</a:t>
            </a:r>
          </a:p>
        </p:txBody>
      </p:sp>
      <p:sp>
        <p:nvSpPr>
          <p:cNvPr name="TextBox 12" id="12"/>
          <p:cNvSpPr txBox="true"/>
          <p:nvPr/>
        </p:nvSpPr>
        <p:spPr>
          <a:xfrm rot="0">
            <a:off x="1397003" y="5904233"/>
            <a:ext cx="3304480" cy="1315088"/>
          </a:xfrm>
          <a:prstGeom prst="rect">
            <a:avLst/>
          </a:prstGeom>
        </p:spPr>
        <p:txBody>
          <a:bodyPr anchor="t" rtlCol="false" tIns="0" lIns="0" bIns="0" rIns="0">
            <a:spAutoFit/>
          </a:bodyPr>
          <a:lstStyle/>
          <a:p>
            <a:pPr algn="l">
              <a:lnSpc>
                <a:spcPts val="2451"/>
              </a:lnSpc>
            </a:pPr>
            <a:r>
              <a:rPr lang="en-US" sz="1800">
                <a:solidFill>
                  <a:srgbClr val="201E1D"/>
                </a:solidFill>
                <a:latin typeface="Arimo"/>
                <a:ea typeface="Arimo"/>
                <a:cs typeface="Arimo"/>
                <a:sym typeface="Arimo"/>
              </a:rPr>
              <a:t>PyTorch: a 131K cipher model, an 8M English→French model, and a Portuguese sibling for replication.</a:t>
            </a:r>
          </a:p>
        </p:txBody>
      </p:sp>
      <p:grpSp>
        <p:nvGrpSpPr>
          <p:cNvPr name="Group 13" id="13"/>
          <p:cNvGrpSpPr/>
          <p:nvPr/>
        </p:nvGrpSpPr>
        <p:grpSpPr>
          <a:xfrm rot="0">
            <a:off x="5162550" y="4752975"/>
            <a:ext cx="3867150" cy="3341370"/>
            <a:chOff x="0" y="0"/>
            <a:chExt cx="5156200" cy="4455160"/>
          </a:xfrm>
        </p:grpSpPr>
        <p:sp>
          <p:nvSpPr>
            <p:cNvPr name="Freeform 14" id="14"/>
            <p:cNvSpPr/>
            <p:nvPr/>
          </p:nvSpPr>
          <p:spPr>
            <a:xfrm flipH="false" flipV="false" rot="0">
              <a:off x="0" y="0"/>
              <a:ext cx="5156200" cy="4455160"/>
            </a:xfrm>
            <a:custGeom>
              <a:avLst/>
              <a:gdLst/>
              <a:ahLst/>
              <a:cxnLst/>
              <a:rect r="r" b="b" t="t" l="l"/>
              <a:pathLst>
                <a:path h="4455160" w="5156200">
                  <a:moveTo>
                    <a:pt x="0" y="355600"/>
                  </a:moveTo>
                  <a:cubicBezTo>
                    <a:pt x="0" y="159258"/>
                    <a:pt x="159258" y="0"/>
                    <a:pt x="355600" y="0"/>
                  </a:cubicBezTo>
                  <a:lnTo>
                    <a:pt x="4800600" y="0"/>
                  </a:lnTo>
                  <a:cubicBezTo>
                    <a:pt x="4996942" y="0"/>
                    <a:pt x="5156200" y="159258"/>
                    <a:pt x="5156200" y="355600"/>
                  </a:cubicBezTo>
                  <a:lnTo>
                    <a:pt x="5156200" y="4099560"/>
                  </a:lnTo>
                  <a:cubicBezTo>
                    <a:pt x="5156200" y="4295902"/>
                    <a:pt x="4996942" y="4455160"/>
                    <a:pt x="4800600" y="4455160"/>
                  </a:cubicBezTo>
                  <a:lnTo>
                    <a:pt x="355600" y="4455160"/>
                  </a:lnTo>
                  <a:cubicBezTo>
                    <a:pt x="159258" y="4455160"/>
                    <a:pt x="0" y="4295902"/>
                    <a:pt x="0" y="4099560"/>
                  </a:cubicBezTo>
                  <a:close/>
                </a:path>
              </a:pathLst>
            </a:custGeom>
            <a:solidFill>
              <a:srgbClr val="EBDDC5"/>
            </a:solidFill>
          </p:spPr>
        </p:sp>
      </p:grpSp>
      <p:sp>
        <p:nvSpPr>
          <p:cNvPr name="TextBox 15" id="15"/>
          <p:cNvSpPr txBox="true"/>
          <p:nvPr/>
        </p:nvSpPr>
        <p:spPr>
          <a:xfrm rot="0">
            <a:off x="5492753" y="4940303"/>
            <a:ext cx="3532508" cy="427358"/>
          </a:xfrm>
          <a:prstGeom prst="rect">
            <a:avLst/>
          </a:prstGeom>
        </p:spPr>
        <p:txBody>
          <a:bodyPr anchor="t" rtlCol="false" tIns="0" lIns="0" bIns="0" rIns="0">
            <a:spAutoFit/>
          </a:bodyPr>
          <a:lstStyle/>
          <a:p>
            <a:pPr algn="l">
              <a:lnSpc>
                <a:spcPts val="2869"/>
              </a:lnSpc>
            </a:pPr>
            <a:r>
              <a:rPr lang="en-US" sz="1800">
                <a:solidFill>
                  <a:srgbClr val="8C491A"/>
                </a:solidFill>
                <a:latin typeface="Arimo"/>
                <a:ea typeface="Arimo"/>
                <a:cs typeface="Arimo"/>
                <a:sym typeface="Arimo"/>
              </a:rPr>
              <a:t>02</a:t>
            </a:r>
          </a:p>
        </p:txBody>
      </p:sp>
      <p:sp>
        <p:nvSpPr>
          <p:cNvPr name="TextBox 16" id="16"/>
          <p:cNvSpPr txBox="true"/>
          <p:nvPr/>
        </p:nvSpPr>
        <p:spPr>
          <a:xfrm rot="0">
            <a:off x="5492753" y="5496563"/>
            <a:ext cx="3532508" cy="316868"/>
          </a:xfrm>
          <a:prstGeom prst="rect">
            <a:avLst/>
          </a:prstGeom>
        </p:spPr>
        <p:txBody>
          <a:bodyPr anchor="t" rtlCol="false" tIns="0" lIns="0" bIns="0" rIns="0">
            <a:spAutoFit/>
          </a:bodyPr>
          <a:lstStyle/>
          <a:p>
            <a:pPr algn="l">
              <a:lnSpc>
                <a:spcPts val="2637"/>
              </a:lnSpc>
            </a:pPr>
            <a:r>
              <a:rPr lang="en-US" sz="2250" spc="-33">
                <a:solidFill>
                  <a:srgbClr val="201E1D"/>
                </a:solidFill>
                <a:latin typeface="Arimo"/>
                <a:ea typeface="Arimo"/>
                <a:cs typeface="Arimo"/>
                <a:sym typeface="Arimo"/>
              </a:rPr>
              <a:t>Export</a:t>
            </a:r>
          </a:p>
        </p:txBody>
      </p:sp>
      <p:sp>
        <p:nvSpPr>
          <p:cNvPr name="TextBox 17" id="17"/>
          <p:cNvSpPr txBox="true"/>
          <p:nvPr/>
        </p:nvSpPr>
        <p:spPr>
          <a:xfrm rot="0">
            <a:off x="5492753" y="5904233"/>
            <a:ext cx="3304480" cy="995048"/>
          </a:xfrm>
          <a:prstGeom prst="rect">
            <a:avLst/>
          </a:prstGeom>
        </p:spPr>
        <p:txBody>
          <a:bodyPr anchor="t" rtlCol="false" tIns="0" lIns="0" bIns="0" rIns="0">
            <a:spAutoFit/>
          </a:bodyPr>
          <a:lstStyle/>
          <a:p>
            <a:pPr algn="l">
              <a:lnSpc>
                <a:spcPts val="2451"/>
              </a:lnSpc>
            </a:pPr>
            <a:r>
              <a:rPr lang="en-US" sz="1800">
                <a:solidFill>
                  <a:srgbClr val="201E1D"/>
                </a:solidFill>
                <a:latin typeface="Arimo"/>
                <a:ea typeface="Arimo"/>
                <a:cs typeface="Arimo"/>
                <a:sym typeface="Arimo"/>
              </a:rPr>
              <a:t>Activations, attention and the synapse graph G* are written out as data files.</a:t>
            </a:r>
          </a:p>
        </p:txBody>
      </p:sp>
      <p:grpSp>
        <p:nvGrpSpPr>
          <p:cNvPr name="Group 18" id="18"/>
          <p:cNvGrpSpPr/>
          <p:nvPr/>
        </p:nvGrpSpPr>
        <p:grpSpPr>
          <a:xfrm rot="0">
            <a:off x="9258300" y="4752975"/>
            <a:ext cx="3867150" cy="3341370"/>
            <a:chOff x="0" y="0"/>
            <a:chExt cx="5156200" cy="4455160"/>
          </a:xfrm>
        </p:grpSpPr>
        <p:sp>
          <p:nvSpPr>
            <p:cNvPr name="Freeform 19" id="19"/>
            <p:cNvSpPr/>
            <p:nvPr/>
          </p:nvSpPr>
          <p:spPr>
            <a:xfrm flipH="false" flipV="false" rot="0">
              <a:off x="0" y="0"/>
              <a:ext cx="5156200" cy="4455160"/>
            </a:xfrm>
            <a:custGeom>
              <a:avLst/>
              <a:gdLst/>
              <a:ahLst/>
              <a:cxnLst/>
              <a:rect r="r" b="b" t="t" l="l"/>
              <a:pathLst>
                <a:path h="4455160" w="5156200">
                  <a:moveTo>
                    <a:pt x="0" y="355600"/>
                  </a:moveTo>
                  <a:cubicBezTo>
                    <a:pt x="0" y="159258"/>
                    <a:pt x="159258" y="0"/>
                    <a:pt x="355600" y="0"/>
                  </a:cubicBezTo>
                  <a:lnTo>
                    <a:pt x="4800600" y="0"/>
                  </a:lnTo>
                  <a:cubicBezTo>
                    <a:pt x="4996942" y="0"/>
                    <a:pt x="5156200" y="159258"/>
                    <a:pt x="5156200" y="355600"/>
                  </a:cubicBezTo>
                  <a:lnTo>
                    <a:pt x="5156200" y="4099560"/>
                  </a:lnTo>
                  <a:cubicBezTo>
                    <a:pt x="5156200" y="4295902"/>
                    <a:pt x="4996942" y="4455160"/>
                    <a:pt x="4800600" y="4455160"/>
                  </a:cubicBezTo>
                  <a:lnTo>
                    <a:pt x="355600" y="4455160"/>
                  </a:lnTo>
                  <a:cubicBezTo>
                    <a:pt x="159258" y="4455160"/>
                    <a:pt x="0" y="4295902"/>
                    <a:pt x="0" y="4099560"/>
                  </a:cubicBezTo>
                  <a:close/>
                </a:path>
              </a:pathLst>
            </a:custGeom>
            <a:solidFill>
              <a:srgbClr val="F0FAE1"/>
            </a:solidFill>
          </p:spPr>
        </p:sp>
      </p:grpSp>
      <p:sp>
        <p:nvSpPr>
          <p:cNvPr name="TextBox 20" id="20"/>
          <p:cNvSpPr txBox="true"/>
          <p:nvPr/>
        </p:nvSpPr>
        <p:spPr>
          <a:xfrm rot="0">
            <a:off x="9588503" y="4940303"/>
            <a:ext cx="3532508" cy="427358"/>
          </a:xfrm>
          <a:prstGeom prst="rect">
            <a:avLst/>
          </a:prstGeom>
        </p:spPr>
        <p:txBody>
          <a:bodyPr anchor="t" rtlCol="false" tIns="0" lIns="0" bIns="0" rIns="0">
            <a:spAutoFit/>
          </a:bodyPr>
          <a:lstStyle/>
          <a:p>
            <a:pPr algn="l">
              <a:lnSpc>
                <a:spcPts val="2869"/>
              </a:lnSpc>
            </a:pPr>
            <a:r>
              <a:rPr lang="en-US" sz="1800">
                <a:solidFill>
                  <a:srgbClr val="8C491A"/>
                </a:solidFill>
                <a:latin typeface="Arimo"/>
                <a:ea typeface="Arimo"/>
                <a:cs typeface="Arimo"/>
                <a:sym typeface="Arimo"/>
              </a:rPr>
              <a:t>03</a:t>
            </a:r>
          </a:p>
        </p:txBody>
      </p:sp>
      <p:sp>
        <p:nvSpPr>
          <p:cNvPr name="TextBox 21" id="21"/>
          <p:cNvSpPr txBox="true"/>
          <p:nvPr/>
        </p:nvSpPr>
        <p:spPr>
          <a:xfrm rot="0">
            <a:off x="9588503" y="5496563"/>
            <a:ext cx="3532508" cy="316868"/>
          </a:xfrm>
          <a:prstGeom prst="rect">
            <a:avLst/>
          </a:prstGeom>
        </p:spPr>
        <p:txBody>
          <a:bodyPr anchor="t" rtlCol="false" tIns="0" lIns="0" bIns="0" rIns="0">
            <a:spAutoFit/>
          </a:bodyPr>
          <a:lstStyle/>
          <a:p>
            <a:pPr algn="l">
              <a:lnSpc>
                <a:spcPts val="2637"/>
              </a:lnSpc>
            </a:pPr>
            <a:r>
              <a:rPr lang="en-US" sz="2250" spc="-33">
                <a:solidFill>
                  <a:srgbClr val="201E1D"/>
                </a:solidFill>
                <a:latin typeface="Arimo"/>
                <a:ea typeface="Arimo"/>
                <a:cs typeface="Arimo"/>
                <a:sym typeface="Arimo"/>
              </a:rPr>
              <a:t>Run</a:t>
            </a:r>
          </a:p>
        </p:txBody>
      </p:sp>
      <p:sp>
        <p:nvSpPr>
          <p:cNvPr name="TextBox 22" id="22"/>
          <p:cNvSpPr txBox="true"/>
          <p:nvPr/>
        </p:nvSpPr>
        <p:spPr>
          <a:xfrm rot="0">
            <a:off x="9588503" y="5904233"/>
            <a:ext cx="3304480" cy="1955168"/>
          </a:xfrm>
          <a:prstGeom prst="rect">
            <a:avLst/>
          </a:prstGeom>
        </p:spPr>
        <p:txBody>
          <a:bodyPr anchor="t" rtlCol="false" tIns="0" lIns="0" bIns="0" rIns="0">
            <a:spAutoFit/>
          </a:bodyPr>
          <a:lstStyle/>
          <a:p>
            <a:pPr algn="l">
              <a:lnSpc>
                <a:spcPts val="2451"/>
              </a:lnSpc>
            </a:pPr>
            <a:r>
              <a:rPr lang="en-US" sz="1800">
                <a:solidFill>
                  <a:srgbClr val="201E1D"/>
                </a:solidFill>
                <a:latin typeface="Arimo"/>
                <a:ea typeface="Arimo"/>
                <a:cs typeface="Arimo"/>
                <a:sym typeface="Arimo"/>
              </a:rPr>
              <a:t>The 131K model runs live in the browser, a hand-written JavaScript port matching PyTorch to 5.2 × 10⁻⁷. The 8M model is replayed from its real exported tensors.</a:t>
            </a:r>
          </a:p>
        </p:txBody>
      </p:sp>
      <p:grpSp>
        <p:nvGrpSpPr>
          <p:cNvPr name="Group 23" id="23"/>
          <p:cNvGrpSpPr/>
          <p:nvPr/>
        </p:nvGrpSpPr>
        <p:grpSpPr>
          <a:xfrm rot="0">
            <a:off x="13354050" y="4752975"/>
            <a:ext cx="3867150" cy="3341370"/>
            <a:chOff x="0" y="0"/>
            <a:chExt cx="5156200" cy="4455160"/>
          </a:xfrm>
        </p:grpSpPr>
        <p:sp>
          <p:nvSpPr>
            <p:cNvPr name="Freeform 24" id="24"/>
            <p:cNvSpPr/>
            <p:nvPr/>
          </p:nvSpPr>
          <p:spPr>
            <a:xfrm flipH="false" flipV="false" rot="0">
              <a:off x="0" y="0"/>
              <a:ext cx="5156200" cy="4455160"/>
            </a:xfrm>
            <a:custGeom>
              <a:avLst/>
              <a:gdLst/>
              <a:ahLst/>
              <a:cxnLst/>
              <a:rect r="r" b="b" t="t" l="l"/>
              <a:pathLst>
                <a:path h="4455160" w="5156200">
                  <a:moveTo>
                    <a:pt x="0" y="355600"/>
                  </a:moveTo>
                  <a:cubicBezTo>
                    <a:pt x="0" y="159258"/>
                    <a:pt x="159258" y="0"/>
                    <a:pt x="355600" y="0"/>
                  </a:cubicBezTo>
                  <a:lnTo>
                    <a:pt x="4800600" y="0"/>
                  </a:lnTo>
                  <a:cubicBezTo>
                    <a:pt x="4996942" y="0"/>
                    <a:pt x="5156200" y="159258"/>
                    <a:pt x="5156200" y="355600"/>
                  </a:cubicBezTo>
                  <a:lnTo>
                    <a:pt x="5156200" y="4099560"/>
                  </a:lnTo>
                  <a:cubicBezTo>
                    <a:pt x="5156200" y="4295902"/>
                    <a:pt x="4996942" y="4455160"/>
                    <a:pt x="4800600" y="4455160"/>
                  </a:cubicBezTo>
                  <a:lnTo>
                    <a:pt x="355600" y="4455160"/>
                  </a:lnTo>
                  <a:cubicBezTo>
                    <a:pt x="159258" y="4455160"/>
                    <a:pt x="0" y="4295902"/>
                    <a:pt x="0" y="4099560"/>
                  </a:cubicBezTo>
                  <a:close/>
                </a:path>
              </a:pathLst>
            </a:custGeom>
            <a:solidFill>
              <a:srgbClr val="EBDDC5"/>
            </a:solidFill>
          </p:spPr>
        </p:sp>
      </p:grpSp>
      <p:sp>
        <p:nvSpPr>
          <p:cNvPr name="TextBox 25" id="25"/>
          <p:cNvSpPr txBox="true"/>
          <p:nvPr/>
        </p:nvSpPr>
        <p:spPr>
          <a:xfrm rot="0">
            <a:off x="13684253" y="4940303"/>
            <a:ext cx="3532508" cy="427358"/>
          </a:xfrm>
          <a:prstGeom prst="rect">
            <a:avLst/>
          </a:prstGeom>
        </p:spPr>
        <p:txBody>
          <a:bodyPr anchor="t" rtlCol="false" tIns="0" lIns="0" bIns="0" rIns="0">
            <a:spAutoFit/>
          </a:bodyPr>
          <a:lstStyle/>
          <a:p>
            <a:pPr algn="l">
              <a:lnSpc>
                <a:spcPts val="2869"/>
              </a:lnSpc>
            </a:pPr>
            <a:r>
              <a:rPr lang="en-US" sz="1800">
                <a:solidFill>
                  <a:srgbClr val="8C491A"/>
                </a:solidFill>
                <a:latin typeface="Arimo"/>
                <a:ea typeface="Arimo"/>
                <a:cs typeface="Arimo"/>
                <a:sym typeface="Arimo"/>
              </a:rPr>
              <a:t>04</a:t>
            </a:r>
          </a:p>
        </p:txBody>
      </p:sp>
      <p:sp>
        <p:nvSpPr>
          <p:cNvPr name="TextBox 26" id="26"/>
          <p:cNvSpPr txBox="true"/>
          <p:nvPr/>
        </p:nvSpPr>
        <p:spPr>
          <a:xfrm rot="0">
            <a:off x="13684253" y="5496563"/>
            <a:ext cx="3532508" cy="316868"/>
          </a:xfrm>
          <a:prstGeom prst="rect">
            <a:avLst/>
          </a:prstGeom>
        </p:spPr>
        <p:txBody>
          <a:bodyPr anchor="t" rtlCol="false" tIns="0" lIns="0" bIns="0" rIns="0">
            <a:spAutoFit/>
          </a:bodyPr>
          <a:lstStyle/>
          <a:p>
            <a:pPr algn="l">
              <a:lnSpc>
                <a:spcPts val="2637"/>
              </a:lnSpc>
            </a:pPr>
            <a:r>
              <a:rPr lang="en-US" sz="2250" spc="-33">
                <a:solidFill>
                  <a:srgbClr val="201E1D"/>
                </a:solidFill>
                <a:latin typeface="Arimo"/>
                <a:ea typeface="Arimo"/>
                <a:cs typeface="Arimo"/>
                <a:sym typeface="Arimo"/>
              </a:rPr>
              <a:t>Ship</a:t>
            </a:r>
          </a:p>
        </p:txBody>
      </p:sp>
      <p:sp>
        <p:nvSpPr>
          <p:cNvPr name="TextBox 27" id="27"/>
          <p:cNvSpPr txBox="true"/>
          <p:nvPr/>
        </p:nvSpPr>
        <p:spPr>
          <a:xfrm rot="0">
            <a:off x="13684253" y="5904233"/>
            <a:ext cx="3304480" cy="995048"/>
          </a:xfrm>
          <a:prstGeom prst="rect">
            <a:avLst/>
          </a:prstGeom>
        </p:spPr>
        <p:txBody>
          <a:bodyPr anchor="t" rtlCol="false" tIns="0" lIns="0" bIns="0" rIns="0">
            <a:spAutoFit/>
          </a:bodyPr>
          <a:lstStyle/>
          <a:p>
            <a:pPr algn="l">
              <a:lnSpc>
                <a:spcPts val="2451"/>
              </a:lnSpc>
            </a:pPr>
            <a:r>
              <a:rPr lang="en-US" sz="1800">
                <a:solidFill>
                  <a:srgbClr val="201E1D"/>
                </a:solidFill>
                <a:latin typeface="Arimo"/>
                <a:ea typeface="Arimo"/>
                <a:cs typeface="Arimo"/>
                <a:sym typeface="Arimo"/>
              </a:rPr>
              <a:t>Three web pages, a one-page LaTeX summary, 12 test gates with CI, MIT licence.</a:t>
            </a:r>
          </a:p>
        </p:txBody>
      </p:sp>
      <p:sp>
        <p:nvSpPr>
          <p:cNvPr name="TextBox 28" id="28"/>
          <p:cNvSpPr txBox="true"/>
          <p:nvPr/>
        </p:nvSpPr>
        <p:spPr>
          <a:xfrm rot="0">
            <a:off x="1092203" y="8230238"/>
            <a:ext cx="12709750" cy="377828"/>
          </a:xfrm>
          <a:prstGeom prst="rect">
            <a:avLst/>
          </a:prstGeom>
        </p:spPr>
        <p:txBody>
          <a:bodyPr anchor="t" rtlCol="false" tIns="0" lIns="0" bIns="0" rIns="0">
            <a:spAutoFit/>
          </a:bodyPr>
          <a:lstStyle/>
          <a:p>
            <a:pPr algn="l">
              <a:lnSpc>
                <a:spcPts val="2590"/>
              </a:lnSpc>
            </a:pPr>
            <a:r>
              <a:rPr lang="en-US" sz="1875">
                <a:solidFill>
                  <a:srgbClr val="474238"/>
                </a:solidFill>
                <a:latin typeface="Arimo"/>
                <a:ea typeface="Arimo"/>
                <a:cs typeface="Arimo"/>
                <a:sym typeface="Arimo"/>
              </a:rPr>
              <a:t>How every number in this talk is produced, end to end. Ours, the DataForge repository.</a:t>
            </a:r>
          </a:p>
        </p:txBody>
      </p:sp>
      <p:sp>
        <p:nvSpPr>
          <p:cNvPr name="TextBox 29" id="29"/>
          <p:cNvSpPr txBox="true"/>
          <p:nvPr/>
        </p:nvSpPr>
        <p:spPr>
          <a:xfrm rot="0">
            <a:off x="1092203" y="8925563"/>
            <a:ext cx="4687519" cy="476888"/>
          </a:xfrm>
          <a:prstGeom prst="rect">
            <a:avLst/>
          </a:prstGeom>
        </p:spPr>
        <p:txBody>
          <a:bodyPr anchor="t" rtlCol="false" tIns="0" lIns="0" bIns="0" rIns="0">
            <a:spAutoFit/>
          </a:bodyPr>
          <a:lstStyle/>
          <a:p>
            <a:pPr algn="l">
              <a:lnSpc>
                <a:spcPts val="3255"/>
              </a:lnSpc>
            </a:pPr>
            <a:r>
              <a:rPr lang="en-US" sz="2100">
                <a:solidFill>
                  <a:srgbClr val="645C50"/>
                </a:solidFill>
                <a:latin typeface="Arimo"/>
                <a:ea typeface="Arimo"/>
                <a:cs typeface="Arimo"/>
                <a:sym typeface="Arimo"/>
              </a:rPr>
              <a:t>Evidence key for the rest of the talk:</a:t>
            </a:r>
          </a:p>
        </p:txBody>
      </p:sp>
      <p:sp>
        <p:nvSpPr>
          <p:cNvPr name="TextBox 30" id="30"/>
          <p:cNvSpPr txBox="true"/>
          <p:nvPr/>
        </p:nvSpPr>
        <p:spPr>
          <a:xfrm rot="0">
            <a:off x="5571211" y="8925563"/>
            <a:ext cx="3698700" cy="476888"/>
          </a:xfrm>
          <a:prstGeom prst="rect">
            <a:avLst/>
          </a:prstGeom>
        </p:spPr>
        <p:txBody>
          <a:bodyPr anchor="t" rtlCol="false" tIns="0" lIns="0" bIns="0" rIns="0">
            <a:spAutoFit/>
          </a:bodyPr>
          <a:lstStyle/>
          <a:p>
            <a:pPr algn="l">
              <a:lnSpc>
                <a:spcPts val="3255"/>
              </a:lnSpc>
            </a:pPr>
            <a:r>
              <a:rPr lang="en-US" sz="2100">
                <a:solidFill>
                  <a:srgbClr val="201E1D"/>
                </a:solidFill>
                <a:latin typeface="Arimo"/>
                <a:ea typeface="Arimo"/>
                <a:cs typeface="Arimo"/>
                <a:sym typeface="Arimo"/>
              </a:rPr>
              <a:t>Live · Ours · Replayed · Cited</a:t>
            </a:r>
          </a:p>
        </p:txBody>
      </p:sp>
      <p:grpSp>
        <p:nvGrpSpPr>
          <p:cNvPr name="Group 31" id="31"/>
          <p:cNvGrpSpPr/>
          <p:nvPr/>
        </p:nvGrpSpPr>
        <p:grpSpPr>
          <a:xfrm rot="0">
            <a:off x="11967324" y="9456420"/>
            <a:ext cx="5253876" cy="506730"/>
            <a:chOff x="0" y="0"/>
            <a:chExt cx="7005168" cy="675640"/>
          </a:xfrm>
        </p:grpSpPr>
        <p:sp>
          <p:nvSpPr>
            <p:cNvPr name="Freeform 32" id="32"/>
            <p:cNvSpPr/>
            <p:nvPr/>
          </p:nvSpPr>
          <p:spPr>
            <a:xfrm flipH="false" flipV="false" rot="0">
              <a:off x="0" y="0"/>
              <a:ext cx="7005193" cy="675640"/>
            </a:xfrm>
            <a:custGeom>
              <a:avLst/>
              <a:gdLst/>
              <a:ahLst/>
              <a:cxnLst/>
              <a:rect r="r" b="b" t="t" l="l"/>
              <a:pathLst>
                <a:path h="675640" w="7005193">
                  <a:moveTo>
                    <a:pt x="0" y="337820"/>
                  </a:moveTo>
                  <a:cubicBezTo>
                    <a:pt x="0" y="151257"/>
                    <a:pt x="151257" y="0"/>
                    <a:pt x="337820" y="0"/>
                  </a:cubicBezTo>
                  <a:lnTo>
                    <a:pt x="6667373" y="0"/>
                  </a:lnTo>
                  <a:cubicBezTo>
                    <a:pt x="6853936" y="0"/>
                    <a:pt x="7005193" y="151257"/>
                    <a:pt x="7005193" y="337820"/>
                  </a:cubicBezTo>
                  <a:cubicBezTo>
                    <a:pt x="7005193" y="524383"/>
                    <a:pt x="6853936" y="675640"/>
                    <a:pt x="6667373" y="675640"/>
                  </a:cubicBezTo>
                  <a:lnTo>
                    <a:pt x="337820" y="675640"/>
                  </a:lnTo>
                  <a:cubicBezTo>
                    <a:pt x="151257" y="675640"/>
                    <a:pt x="0" y="524383"/>
                    <a:pt x="0" y="337820"/>
                  </a:cubicBezTo>
                  <a:close/>
                </a:path>
              </a:pathLst>
            </a:custGeom>
            <a:solidFill>
              <a:srgbClr val="EBDDC5"/>
            </a:solidFill>
          </p:spPr>
        </p:sp>
      </p:grpSp>
      <p:grpSp>
        <p:nvGrpSpPr>
          <p:cNvPr name="Group 33" id="33"/>
          <p:cNvGrpSpPr/>
          <p:nvPr/>
        </p:nvGrpSpPr>
        <p:grpSpPr>
          <a:xfrm rot="0">
            <a:off x="11967324" y="9456420"/>
            <a:ext cx="5253876" cy="506730"/>
            <a:chOff x="0" y="0"/>
            <a:chExt cx="7005168" cy="675640"/>
          </a:xfrm>
        </p:grpSpPr>
        <p:sp>
          <p:nvSpPr>
            <p:cNvPr name="Freeform 34" id="34" descr="preencoded.png"/>
            <p:cNvSpPr/>
            <p:nvPr/>
          </p:nvSpPr>
          <p:spPr>
            <a:xfrm flipH="false" flipV="false" rot="0">
              <a:off x="0" y="0"/>
              <a:ext cx="7005193" cy="675640"/>
            </a:xfrm>
            <a:custGeom>
              <a:avLst/>
              <a:gdLst/>
              <a:ahLst/>
              <a:cxnLst/>
              <a:rect r="r" b="b" t="t" l="l"/>
              <a:pathLst>
                <a:path h="675640" w="7005193">
                  <a:moveTo>
                    <a:pt x="0" y="0"/>
                  </a:moveTo>
                  <a:lnTo>
                    <a:pt x="7005193" y="0"/>
                  </a:lnTo>
                  <a:lnTo>
                    <a:pt x="7005193" y="675640"/>
                  </a:lnTo>
                  <a:lnTo>
                    <a:pt x="0" y="675640"/>
                  </a:lnTo>
                  <a:lnTo>
                    <a:pt x="0" y="0"/>
                  </a:lnTo>
                  <a:close/>
                </a:path>
              </a:pathLst>
            </a:custGeom>
            <a:blipFill>
              <a:blip r:embed="rId3"/>
              <a:stretch>
                <a:fillRect l="-180" t="0" r="-180" b="0"/>
              </a:stretch>
            </a:blipFill>
          </p:spPr>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5EAD8"/>
        </a:solidFill>
      </p:bgPr>
    </p:bg>
    <p:spTree>
      <p:nvGrpSpPr>
        <p:cNvPr id="1" name=""/>
        <p:cNvGrpSpPr/>
        <p:nvPr/>
      </p:nvGrpSpPr>
      <p:grpSpPr>
        <a:xfrm>
          <a:off x="0" y="0"/>
          <a:ext cx="0" cy="0"/>
          <a:chOff x="0" y="0"/>
          <a:chExt cx="0" cy="0"/>
        </a:xfrm>
      </p:grpSpPr>
      <p:sp>
        <p:nvSpPr>
          <p:cNvPr name="TextBox 2" id="2"/>
          <p:cNvSpPr txBox="true"/>
          <p:nvPr/>
        </p:nvSpPr>
        <p:spPr>
          <a:xfrm rot="0">
            <a:off x="1092203" y="844553"/>
            <a:ext cx="15253973" cy="1178881"/>
          </a:xfrm>
          <a:prstGeom prst="rect">
            <a:avLst/>
          </a:prstGeom>
        </p:spPr>
        <p:txBody>
          <a:bodyPr anchor="t" rtlCol="false" tIns="0" lIns="0" bIns="0" rIns="0">
            <a:spAutoFit/>
          </a:bodyPr>
          <a:lstStyle/>
          <a:p>
            <a:pPr algn="l">
              <a:lnSpc>
                <a:spcPts val="4856"/>
              </a:lnSpc>
            </a:pPr>
            <a:r>
              <a:rPr lang="en-US" sz="4050">
                <a:solidFill>
                  <a:srgbClr val="201E1D"/>
                </a:solidFill>
                <a:latin typeface="Arimo"/>
                <a:ea typeface="Arimo"/>
                <a:cs typeface="Arimo"/>
                <a:sym typeface="Arimo"/>
              </a:rPr>
              <a:t>A 131K model you can break in the browser, and an 8M model that translates.</a:t>
            </a:r>
          </a:p>
        </p:txBody>
      </p:sp>
      <p:sp>
        <p:nvSpPr>
          <p:cNvPr name="TextBox 3" id="3"/>
          <p:cNvSpPr txBox="true"/>
          <p:nvPr/>
        </p:nvSpPr>
        <p:spPr>
          <a:xfrm rot="0">
            <a:off x="1092203" y="2194246"/>
            <a:ext cx="8415023" cy="316868"/>
          </a:xfrm>
          <a:prstGeom prst="rect">
            <a:avLst/>
          </a:prstGeom>
        </p:spPr>
        <p:txBody>
          <a:bodyPr anchor="t" rtlCol="false" tIns="0" lIns="0" bIns="0" rIns="0">
            <a:spAutoFit/>
          </a:bodyPr>
          <a:lstStyle/>
          <a:p>
            <a:pPr algn="l">
              <a:lnSpc>
                <a:spcPts val="2637"/>
              </a:lnSpc>
            </a:pPr>
            <a:r>
              <a:rPr lang="en-US" sz="2250" spc="-33">
                <a:solidFill>
                  <a:srgbClr val="201E1D"/>
                </a:solidFill>
                <a:latin typeface="Arimo"/>
                <a:ea typeface="Arimo"/>
                <a:cs typeface="Arimo"/>
                <a:sym typeface="Arimo"/>
              </a:rPr>
              <a:t>The 131K cipher model</a:t>
            </a:r>
          </a:p>
        </p:txBody>
      </p:sp>
      <p:sp>
        <p:nvSpPr>
          <p:cNvPr name="TextBox 4" id="4"/>
          <p:cNvSpPr txBox="true"/>
          <p:nvPr/>
        </p:nvSpPr>
        <p:spPr>
          <a:xfrm rot="0">
            <a:off x="1028700" y="2921862"/>
            <a:ext cx="6947008" cy="5981225"/>
          </a:xfrm>
          <a:prstGeom prst="rect">
            <a:avLst/>
          </a:prstGeom>
        </p:spPr>
        <p:txBody>
          <a:bodyPr anchor="t" rtlCol="false" tIns="0" lIns="0" bIns="0" rIns="0">
            <a:spAutoFit/>
          </a:bodyPr>
          <a:lstStyle/>
          <a:p>
            <a:pPr algn="l">
              <a:lnSpc>
                <a:spcPts val="2538"/>
              </a:lnSpc>
            </a:pPr>
            <a:r>
              <a:rPr lang="en-US" sz="1800" b="true">
                <a:solidFill>
                  <a:srgbClr val="201E1D"/>
                </a:solidFill>
                <a:latin typeface="Arimo Bold"/>
                <a:ea typeface="Arimo Bold"/>
                <a:cs typeface="Arimo Bold"/>
                <a:sym typeface="Arimo Bold"/>
              </a:rPr>
              <a:t>What it is</a:t>
            </a:r>
            <a:r>
              <a:rPr lang="en-US" sz="1800">
                <a:solidFill>
                  <a:srgbClr val="201E1D"/>
                </a:solidFill>
                <a:latin typeface="Arimo"/>
                <a:ea typeface="Arimo"/>
                <a:cs typeface="Arimo"/>
                <a:sym typeface="Arimo"/>
              </a:rPr>
              <a:t>. The public MIT bdh.py, unmodified, shrunk to 131,072 parameters: 64 dimensions wide, 2 heads, 256 neurons each, four iterations of one shared operator. Trained by us from scratch in research/train.py.</a:t>
            </a:r>
          </a:p>
          <a:p>
            <a:pPr algn="l">
              <a:lnSpc>
                <a:spcPts val="2538"/>
              </a:lnSpc>
            </a:pPr>
          </a:p>
          <a:p>
            <a:pPr algn="l">
              <a:lnSpc>
                <a:spcPts val="2538"/>
              </a:lnSpc>
            </a:pPr>
            <a:r>
              <a:rPr lang="en-US" sz="1800" b="true">
                <a:solidFill>
                  <a:srgbClr val="201E1D"/>
                </a:solidFill>
                <a:latin typeface="Arimo Bold"/>
                <a:ea typeface="Arimo Bold"/>
                <a:cs typeface="Arimo Bold"/>
                <a:sym typeface="Arimo Bold"/>
              </a:rPr>
              <a:t>What it was trained on.</a:t>
            </a:r>
            <a:r>
              <a:rPr lang="en-US" sz="1800">
                <a:solidFill>
                  <a:srgbClr val="201E1D"/>
                </a:solidFill>
                <a:latin typeface="Arimo"/>
                <a:ea typeface="Arimo"/>
                <a:cs typeface="Arimo"/>
                <a:sym typeface="Arimo"/>
              </a:rPr>
              <a:t> One synthetic task. The prompt shows a few symbol to symbol pairs, then asks for one of them back. The mapping is a fresh random bijection in every single example, drawn from 48 source and 48 target bytes. Nothing about the rule can be learned, because it never repeats. The only way to answer is to read the demonstrations back out of the state written during that forward pass.</a:t>
            </a:r>
          </a:p>
          <a:p>
            <a:pPr algn="l">
              <a:lnSpc>
                <a:spcPts val="2538"/>
              </a:lnSpc>
            </a:pPr>
          </a:p>
          <a:p>
            <a:pPr algn="l">
              <a:lnSpc>
                <a:spcPts val="2538"/>
              </a:lnSpc>
            </a:pPr>
            <a:r>
              <a:rPr lang="en-US" sz="1800" b="true">
                <a:solidFill>
                  <a:srgbClr val="201E1D"/>
                </a:solidFill>
                <a:latin typeface="Arimo Bold"/>
                <a:ea typeface="Arimo Bold"/>
                <a:cs typeface="Arimo Bold"/>
                <a:sym typeface="Arimo Bold"/>
              </a:rPr>
              <a:t>What it is for. </a:t>
            </a:r>
            <a:r>
              <a:rPr lang="en-US" sz="1800">
                <a:solidFill>
                  <a:srgbClr val="201E1D"/>
                </a:solidFill>
                <a:latin typeface="Arimo"/>
                <a:ea typeface="Arimo"/>
                <a:cs typeface="Arimo"/>
                <a:sym typeface="Arimo"/>
              </a:rPr>
              <a:t>It is the model that runs in the ‘Price’ Page. 263 KB of fp16 weights ship with the page and execute in your browser, within 5.2e-7 of PyTorch on every logit. </a:t>
            </a:r>
          </a:p>
          <a:p>
            <a:pPr algn="l">
              <a:lnSpc>
                <a:spcPts val="2538"/>
              </a:lnSpc>
            </a:pPr>
          </a:p>
          <a:p>
            <a:pPr algn="l">
              <a:lnSpc>
                <a:spcPts val="2538"/>
              </a:lnSpc>
            </a:pPr>
          </a:p>
          <a:p>
            <a:pPr algn="l">
              <a:lnSpc>
                <a:spcPts val="2539"/>
              </a:lnSpc>
            </a:pPr>
          </a:p>
        </p:txBody>
      </p:sp>
      <p:sp>
        <p:nvSpPr>
          <p:cNvPr name="TextBox 5" id="5"/>
          <p:cNvSpPr txBox="true"/>
          <p:nvPr/>
        </p:nvSpPr>
        <p:spPr>
          <a:xfrm rot="0">
            <a:off x="9550403" y="2194246"/>
            <a:ext cx="8415023" cy="316868"/>
          </a:xfrm>
          <a:prstGeom prst="rect">
            <a:avLst/>
          </a:prstGeom>
        </p:spPr>
        <p:txBody>
          <a:bodyPr anchor="t" rtlCol="false" tIns="0" lIns="0" bIns="0" rIns="0">
            <a:spAutoFit/>
          </a:bodyPr>
          <a:lstStyle/>
          <a:p>
            <a:pPr algn="l">
              <a:lnSpc>
                <a:spcPts val="2637"/>
              </a:lnSpc>
            </a:pPr>
            <a:r>
              <a:rPr lang="en-US" sz="2250" spc="-33">
                <a:solidFill>
                  <a:srgbClr val="201E1D"/>
                </a:solidFill>
                <a:latin typeface="Arimo"/>
                <a:ea typeface="Arimo"/>
                <a:cs typeface="Arimo"/>
                <a:sym typeface="Arimo"/>
              </a:rPr>
              <a:t>The 8M translation model</a:t>
            </a:r>
          </a:p>
        </p:txBody>
      </p:sp>
      <p:grpSp>
        <p:nvGrpSpPr>
          <p:cNvPr name="Group 6" id="6"/>
          <p:cNvGrpSpPr/>
          <p:nvPr/>
        </p:nvGrpSpPr>
        <p:grpSpPr>
          <a:xfrm rot="0">
            <a:off x="9525000" y="2749867"/>
            <a:ext cx="6676196" cy="4095750"/>
            <a:chOff x="0" y="0"/>
            <a:chExt cx="8901595" cy="5461000"/>
          </a:xfrm>
        </p:grpSpPr>
        <p:sp>
          <p:nvSpPr>
            <p:cNvPr name="Freeform 7" id="7" descr="preencoded.png"/>
            <p:cNvSpPr/>
            <p:nvPr/>
          </p:nvSpPr>
          <p:spPr>
            <a:xfrm flipH="false" flipV="false" rot="0">
              <a:off x="0" y="0"/>
              <a:ext cx="8901557" cy="5461000"/>
            </a:xfrm>
            <a:custGeom>
              <a:avLst/>
              <a:gdLst/>
              <a:ahLst/>
              <a:cxnLst/>
              <a:rect r="r" b="b" t="t" l="l"/>
              <a:pathLst>
                <a:path h="5461000" w="8901557">
                  <a:moveTo>
                    <a:pt x="0" y="0"/>
                  </a:moveTo>
                  <a:lnTo>
                    <a:pt x="8901557" y="0"/>
                  </a:lnTo>
                  <a:lnTo>
                    <a:pt x="8901557" y="5461000"/>
                  </a:lnTo>
                  <a:lnTo>
                    <a:pt x="0" y="5461000"/>
                  </a:lnTo>
                  <a:lnTo>
                    <a:pt x="0" y="0"/>
                  </a:lnTo>
                  <a:close/>
                </a:path>
              </a:pathLst>
            </a:custGeom>
            <a:blipFill>
              <a:blip r:embed="rId3"/>
              <a:stretch>
                <a:fillRect l="0" t="0" r="-1" b="0"/>
              </a:stretch>
            </a:blipFill>
          </p:spPr>
        </p:sp>
      </p:grpSp>
      <p:sp>
        <p:nvSpPr>
          <p:cNvPr name="TextBox 8" id="8"/>
          <p:cNvSpPr txBox="true"/>
          <p:nvPr/>
        </p:nvSpPr>
        <p:spPr>
          <a:xfrm rot="0">
            <a:off x="9550403" y="7000561"/>
            <a:ext cx="7876289" cy="642623"/>
          </a:xfrm>
          <a:prstGeom prst="rect">
            <a:avLst/>
          </a:prstGeom>
        </p:spPr>
        <p:txBody>
          <a:bodyPr anchor="t" rtlCol="false" tIns="0" lIns="0" bIns="0" rIns="0">
            <a:spAutoFit/>
          </a:bodyPr>
          <a:lstStyle/>
          <a:p>
            <a:pPr algn="l">
              <a:lnSpc>
                <a:spcPts val="2364"/>
              </a:lnSpc>
            </a:pPr>
            <a:r>
              <a:rPr lang="en-US" sz="1800">
                <a:solidFill>
                  <a:srgbClr val="474238"/>
                </a:solidFill>
                <a:latin typeface="Arimo"/>
                <a:ea typeface="Arimo"/>
                <a:cs typeface="Arimo"/>
                <a:sym typeface="Arimo"/>
              </a:rPr>
              <a:t>Bits per byte on the same text windows; lower is better. The public models are reference points, not controls. Ours, research/compare_quality.py.</a:t>
            </a:r>
          </a:p>
        </p:txBody>
      </p:sp>
      <p:sp>
        <p:nvSpPr>
          <p:cNvPr name="TextBox 9" id="9"/>
          <p:cNvSpPr txBox="true"/>
          <p:nvPr/>
        </p:nvSpPr>
        <p:spPr>
          <a:xfrm rot="0">
            <a:off x="9931403" y="7766371"/>
            <a:ext cx="8034023" cy="375923"/>
          </a:xfrm>
          <a:prstGeom prst="rect">
            <a:avLst/>
          </a:prstGeom>
        </p:spPr>
        <p:txBody>
          <a:bodyPr anchor="t" rtlCol="false" tIns="0" lIns="0" bIns="0" rIns="0">
            <a:spAutoFit/>
          </a:bodyPr>
          <a:lstStyle/>
          <a:p>
            <a:pPr algn="l">
              <a:lnSpc>
                <a:spcPts val="2539"/>
              </a:lnSpc>
            </a:pPr>
            <a:r>
              <a:rPr lang="en-US" sz="1800">
                <a:solidFill>
                  <a:srgbClr val="201E1D"/>
                </a:solidFill>
                <a:latin typeface="Arimo"/>
                <a:ea typeface="Arimo"/>
                <a:cs typeface="Arimo"/>
                <a:sym typeface="Arimo"/>
              </a:rPr>
              <a:t>12,288 neurons and 7.96M parameters, reading raw bytes.</a:t>
            </a:r>
          </a:p>
        </p:txBody>
      </p:sp>
      <p:sp>
        <p:nvSpPr>
          <p:cNvPr name="TextBox 10" id="10"/>
          <p:cNvSpPr txBox="true"/>
          <p:nvPr/>
        </p:nvSpPr>
        <p:spPr>
          <a:xfrm rot="0">
            <a:off x="9931403" y="8265481"/>
            <a:ext cx="7495289" cy="637607"/>
          </a:xfrm>
          <a:prstGeom prst="rect">
            <a:avLst/>
          </a:prstGeom>
        </p:spPr>
        <p:txBody>
          <a:bodyPr anchor="t" rtlCol="false" tIns="0" lIns="0" bIns="0" rIns="0">
            <a:spAutoFit/>
          </a:bodyPr>
          <a:lstStyle/>
          <a:p>
            <a:pPr algn="l">
              <a:lnSpc>
                <a:spcPts val="2539"/>
              </a:lnSpc>
            </a:pPr>
            <a:r>
              <a:rPr lang="en-US" sz="1800">
                <a:solidFill>
                  <a:srgbClr val="201E1D"/>
                </a:solidFill>
                <a:latin typeface="Arimo"/>
                <a:ea typeface="Arimo"/>
                <a:cs typeface="Arimo"/>
                <a:sym typeface="Arimo"/>
              </a:rPr>
              <a:t>Out of domain it comes </a:t>
            </a:r>
            <a:r>
              <a:rPr lang="en-US" sz="1800" b="true">
                <a:solidFill>
                  <a:srgbClr val="201E1D"/>
                </a:solidFill>
                <a:latin typeface="Arimo Bold"/>
                <a:ea typeface="Arimo Bold"/>
                <a:cs typeface="Arimo Bold"/>
                <a:sym typeface="Arimo Bold"/>
              </a:rPr>
              <a:t>last </a:t>
            </a:r>
            <a:r>
              <a:rPr lang="en-US" sz="1800">
                <a:solidFill>
                  <a:srgbClr val="201E1D"/>
                </a:solidFill>
                <a:latin typeface="Arimo"/>
                <a:ea typeface="Arimo"/>
                <a:cs typeface="Arimo"/>
                <a:sym typeface="Arimo"/>
              </a:rPr>
              <a:t>(2.876). It is a specialist, and the results slide says so.</a:t>
            </a:r>
          </a:p>
        </p:txBody>
      </p:sp>
      <p:grpSp>
        <p:nvGrpSpPr>
          <p:cNvPr name="Group 11" id="11"/>
          <p:cNvGrpSpPr/>
          <p:nvPr/>
        </p:nvGrpSpPr>
        <p:grpSpPr>
          <a:xfrm rot="0">
            <a:off x="11967324" y="9456420"/>
            <a:ext cx="5253876" cy="506730"/>
            <a:chOff x="0" y="0"/>
            <a:chExt cx="7005168" cy="675640"/>
          </a:xfrm>
        </p:grpSpPr>
        <p:sp>
          <p:nvSpPr>
            <p:cNvPr name="Freeform 12" id="12"/>
            <p:cNvSpPr/>
            <p:nvPr/>
          </p:nvSpPr>
          <p:spPr>
            <a:xfrm flipH="false" flipV="false" rot="0">
              <a:off x="0" y="0"/>
              <a:ext cx="7005193" cy="675640"/>
            </a:xfrm>
            <a:custGeom>
              <a:avLst/>
              <a:gdLst/>
              <a:ahLst/>
              <a:cxnLst/>
              <a:rect r="r" b="b" t="t" l="l"/>
              <a:pathLst>
                <a:path h="675640" w="7005193">
                  <a:moveTo>
                    <a:pt x="0" y="337820"/>
                  </a:moveTo>
                  <a:cubicBezTo>
                    <a:pt x="0" y="151257"/>
                    <a:pt x="151257" y="0"/>
                    <a:pt x="337820" y="0"/>
                  </a:cubicBezTo>
                  <a:lnTo>
                    <a:pt x="6667373" y="0"/>
                  </a:lnTo>
                  <a:cubicBezTo>
                    <a:pt x="6853936" y="0"/>
                    <a:pt x="7005193" y="151257"/>
                    <a:pt x="7005193" y="337820"/>
                  </a:cubicBezTo>
                  <a:cubicBezTo>
                    <a:pt x="7005193" y="524383"/>
                    <a:pt x="6853936" y="675640"/>
                    <a:pt x="6667373" y="675640"/>
                  </a:cubicBezTo>
                  <a:lnTo>
                    <a:pt x="337820" y="675640"/>
                  </a:lnTo>
                  <a:cubicBezTo>
                    <a:pt x="151257" y="675640"/>
                    <a:pt x="0" y="524383"/>
                    <a:pt x="0" y="337820"/>
                  </a:cubicBezTo>
                  <a:close/>
                </a:path>
              </a:pathLst>
            </a:custGeom>
            <a:solidFill>
              <a:srgbClr val="EBDDC5"/>
            </a:solidFill>
          </p:spPr>
        </p:sp>
      </p:grpSp>
      <p:grpSp>
        <p:nvGrpSpPr>
          <p:cNvPr name="Group 13" id="13"/>
          <p:cNvGrpSpPr/>
          <p:nvPr/>
        </p:nvGrpSpPr>
        <p:grpSpPr>
          <a:xfrm rot="0">
            <a:off x="11967324" y="9456420"/>
            <a:ext cx="5253876" cy="506730"/>
            <a:chOff x="0" y="0"/>
            <a:chExt cx="7005168" cy="675640"/>
          </a:xfrm>
        </p:grpSpPr>
        <p:sp>
          <p:nvSpPr>
            <p:cNvPr name="Freeform 14" id="14" descr="preencoded.png"/>
            <p:cNvSpPr/>
            <p:nvPr/>
          </p:nvSpPr>
          <p:spPr>
            <a:xfrm flipH="false" flipV="false" rot="0">
              <a:off x="0" y="0"/>
              <a:ext cx="7005193" cy="675640"/>
            </a:xfrm>
            <a:custGeom>
              <a:avLst/>
              <a:gdLst/>
              <a:ahLst/>
              <a:cxnLst/>
              <a:rect r="r" b="b" t="t" l="l"/>
              <a:pathLst>
                <a:path h="675640" w="7005193">
                  <a:moveTo>
                    <a:pt x="0" y="0"/>
                  </a:moveTo>
                  <a:lnTo>
                    <a:pt x="7005193" y="0"/>
                  </a:lnTo>
                  <a:lnTo>
                    <a:pt x="7005193" y="675640"/>
                  </a:lnTo>
                  <a:lnTo>
                    <a:pt x="0" y="675640"/>
                  </a:lnTo>
                  <a:lnTo>
                    <a:pt x="0" y="0"/>
                  </a:lnTo>
                  <a:close/>
                </a:path>
              </a:pathLst>
            </a:custGeom>
            <a:blipFill>
              <a:blip r:embed="rId4"/>
              <a:stretch>
                <a:fillRect l="-180" t="0" r="-180" b="0"/>
              </a:stretch>
            </a:blipFill>
          </p:spPr>
        </p:sp>
      </p:gr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EAD8"/>
        </a:solidFill>
      </p:bgPr>
    </p:bg>
    <p:spTree>
      <p:nvGrpSpPr>
        <p:cNvPr id="1" name=""/>
        <p:cNvGrpSpPr/>
        <p:nvPr/>
      </p:nvGrpSpPr>
      <p:grpSpPr>
        <a:xfrm>
          <a:off x="0" y="0"/>
          <a:ext cx="0" cy="0"/>
          <a:chOff x="0" y="0"/>
          <a:chExt cx="0" cy="0"/>
        </a:xfrm>
      </p:grpSpPr>
      <p:sp>
        <p:nvSpPr>
          <p:cNvPr name="TextBox 2" id="2"/>
          <p:cNvSpPr txBox="true"/>
          <p:nvPr/>
        </p:nvSpPr>
        <p:spPr>
          <a:xfrm rot="0">
            <a:off x="1092203" y="844553"/>
            <a:ext cx="15253973" cy="629051"/>
          </a:xfrm>
          <a:prstGeom prst="rect">
            <a:avLst/>
          </a:prstGeom>
        </p:spPr>
        <p:txBody>
          <a:bodyPr anchor="t" rtlCol="false" tIns="0" lIns="0" bIns="0" rIns="0">
            <a:spAutoFit/>
          </a:bodyPr>
          <a:lstStyle/>
          <a:p>
            <a:pPr algn="l">
              <a:lnSpc>
                <a:spcPts val="4856"/>
              </a:lnSpc>
            </a:pPr>
            <a:r>
              <a:rPr lang="en-US" sz="4050">
                <a:solidFill>
                  <a:srgbClr val="201E1D"/>
                </a:solidFill>
                <a:latin typeface="Arimo"/>
                <a:ea typeface="Arimo"/>
                <a:cs typeface="Arimo"/>
                <a:sym typeface="Arimo"/>
              </a:rPr>
              <a:t>The 8M model: six layers are one operator applied six times.</a:t>
            </a:r>
          </a:p>
        </p:txBody>
      </p:sp>
      <p:grpSp>
        <p:nvGrpSpPr>
          <p:cNvPr name="Group 3" id="3"/>
          <p:cNvGrpSpPr/>
          <p:nvPr/>
        </p:nvGrpSpPr>
        <p:grpSpPr>
          <a:xfrm rot="0">
            <a:off x="1104900" y="1901514"/>
            <a:ext cx="16154400" cy="4640580"/>
            <a:chOff x="0" y="0"/>
            <a:chExt cx="21539200" cy="6187440"/>
          </a:xfrm>
        </p:grpSpPr>
        <p:sp>
          <p:nvSpPr>
            <p:cNvPr name="Freeform 4" id="4"/>
            <p:cNvSpPr/>
            <p:nvPr/>
          </p:nvSpPr>
          <p:spPr>
            <a:xfrm flipH="false" flipV="false" rot="0">
              <a:off x="0" y="0"/>
              <a:ext cx="21539200" cy="6187440"/>
            </a:xfrm>
            <a:custGeom>
              <a:avLst/>
              <a:gdLst/>
              <a:ahLst/>
              <a:cxnLst/>
              <a:rect r="r" b="b" t="t" l="l"/>
              <a:pathLst>
                <a:path h="6187440" w="21539200">
                  <a:moveTo>
                    <a:pt x="0" y="355600"/>
                  </a:moveTo>
                  <a:cubicBezTo>
                    <a:pt x="0" y="159258"/>
                    <a:pt x="159258" y="0"/>
                    <a:pt x="355600" y="0"/>
                  </a:cubicBezTo>
                  <a:lnTo>
                    <a:pt x="21183600" y="0"/>
                  </a:lnTo>
                  <a:cubicBezTo>
                    <a:pt x="21379942" y="0"/>
                    <a:pt x="21539200" y="159258"/>
                    <a:pt x="21539200" y="355600"/>
                  </a:cubicBezTo>
                  <a:lnTo>
                    <a:pt x="21539200" y="5831840"/>
                  </a:lnTo>
                  <a:cubicBezTo>
                    <a:pt x="21539200" y="6028182"/>
                    <a:pt x="21379942" y="6187440"/>
                    <a:pt x="21183600" y="6187440"/>
                  </a:cubicBezTo>
                  <a:lnTo>
                    <a:pt x="355600" y="6187440"/>
                  </a:lnTo>
                  <a:cubicBezTo>
                    <a:pt x="159258" y="6187440"/>
                    <a:pt x="0" y="6028182"/>
                    <a:pt x="0" y="5831840"/>
                  </a:cubicBezTo>
                  <a:close/>
                </a:path>
              </a:pathLst>
            </a:custGeom>
            <a:solidFill>
              <a:srgbClr val="EBDDC5"/>
            </a:solidFill>
          </p:spPr>
        </p:sp>
      </p:grpSp>
      <p:sp>
        <p:nvSpPr>
          <p:cNvPr name="TextBox 5" id="5"/>
          <p:cNvSpPr txBox="true"/>
          <p:nvPr/>
        </p:nvSpPr>
        <p:spPr>
          <a:xfrm rot="0">
            <a:off x="1625603" y="2853376"/>
            <a:ext cx="2201866" cy="313058"/>
          </a:xfrm>
          <a:prstGeom prst="rect">
            <a:avLst/>
          </a:prstGeom>
        </p:spPr>
        <p:txBody>
          <a:bodyPr anchor="t" rtlCol="false" tIns="0" lIns="0" bIns="0" rIns="0">
            <a:spAutoFit/>
          </a:bodyPr>
          <a:lstStyle/>
          <a:p>
            <a:pPr algn="l">
              <a:lnSpc>
                <a:spcPts val="2276"/>
              </a:lnSpc>
            </a:pPr>
            <a:r>
              <a:rPr lang="en-US" sz="1800">
                <a:solidFill>
                  <a:srgbClr val="645C50"/>
                </a:solidFill>
                <a:latin typeface="Arimo"/>
                <a:ea typeface="Arimo"/>
                <a:cs typeface="Arimo"/>
                <a:sym typeface="Arimo"/>
              </a:rPr>
              <a:t>Parameters</a:t>
            </a:r>
          </a:p>
        </p:txBody>
      </p:sp>
      <p:sp>
        <p:nvSpPr>
          <p:cNvPr name="TextBox 6" id="6"/>
          <p:cNvSpPr txBox="true"/>
          <p:nvPr/>
        </p:nvSpPr>
        <p:spPr>
          <a:xfrm rot="0">
            <a:off x="3902078" y="2790511"/>
            <a:ext cx="5366071" cy="396878"/>
          </a:xfrm>
          <a:prstGeom prst="rect">
            <a:avLst/>
          </a:prstGeom>
        </p:spPr>
        <p:txBody>
          <a:bodyPr anchor="t" rtlCol="false" tIns="0" lIns="0" bIns="0" rIns="0">
            <a:spAutoFit/>
          </a:bodyPr>
          <a:lstStyle/>
          <a:p>
            <a:pPr algn="l">
              <a:lnSpc>
                <a:spcPts val="2925"/>
              </a:lnSpc>
            </a:pPr>
            <a:r>
              <a:rPr lang="en-US" sz="2250" b="true">
                <a:solidFill>
                  <a:srgbClr val="201E1D"/>
                </a:solidFill>
                <a:latin typeface="Arimo Bold"/>
                <a:ea typeface="Arimo Bold"/>
                <a:cs typeface="Arimo Bold"/>
                <a:sym typeface="Arimo Bold"/>
              </a:rPr>
              <a:t>7,962,624</a:t>
            </a:r>
            <a:r>
              <a:rPr lang="en-US" sz="2250">
                <a:solidFill>
                  <a:srgbClr val="201E1D"/>
                </a:solidFill>
                <a:latin typeface="Arimo"/>
                <a:ea typeface="Arimo"/>
                <a:cs typeface="Arimo"/>
                <a:sym typeface="Arimo"/>
              </a:rPr>
              <a:t>, and no per-layer weights</a:t>
            </a:r>
          </a:p>
        </p:txBody>
      </p:sp>
      <p:sp>
        <p:nvSpPr>
          <p:cNvPr name="TextBox 7" id="7"/>
          <p:cNvSpPr txBox="true"/>
          <p:nvPr/>
        </p:nvSpPr>
        <p:spPr>
          <a:xfrm rot="0">
            <a:off x="9512303" y="2853376"/>
            <a:ext cx="2201866" cy="313058"/>
          </a:xfrm>
          <a:prstGeom prst="rect">
            <a:avLst/>
          </a:prstGeom>
        </p:spPr>
        <p:txBody>
          <a:bodyPr anchor="t" rtlCol="false" tIns="0" lIns="0" bIns="0" rIns="0">
            <a:spAutoFit/>
          </a:bodyPr>
          <a:lstStyle/>
          <a:p>
            <a:pPr algn="l">
              <a:lnSpc>
                <a:spcPts val="2276"/>
              </a:lnSpc>
            </a:pPr>
            <a:r>
              <a:rPr lang="en-US" sz="1800">
                <a:solidFill>
                  <a:srgbClr val="645C50"/>
                </a:solidFill>
                <a:latin typeface="Arimo"/>
                <a:ea typeface="Arimo"/>
                <a:cs typeface="Arimo"/>
                <a:sym typeface="Arimo"/>
              </a:rPr>
              <a:t>Layers</a:t>
            </a:r>
          </a:p>
        </p:txBody>
      </p:sp>
      <p:sp>
        <p:nvSpPr>
          <p:cNvPr name="TextBox 8" id="8"/>
          <p:cNvSpPr txBox="true"/>
          <p:nvPr/>
        </p:nvSpPr>
        <p:spPr>
          <a:xfrm rot="0">
            <a:off x="11788778" y="2790511"/>
            <a:ext cx="5021361" cy="752475"/>
          </a:xfrm>
          <a:prstGeom prst="rect">
            <a:avLst/>
          </a:prstGeom>
        </p:spPr>
        <p:txBody>
          <a:bodyPr anchor="t" rtlCol="false" tIns="0" lIns="0" bIns="0" rIns="0">
            <a:spAutoFit/>
          </a:bodyPr>
          <a:lstStyle/>
          <a:p>
            <a:pPr algn="l">
              <a:lnSpc>
                <a:spcPts val="2925"/>
              </a:lnSpc>
            </a:pPr>
            <a:r>
              <a:rPr lang="en-US" sz="2250">
                <a:solidFill>
                  <a:srgbClr val="201E1D"/>
                </a:solidFill>
                <a:latin typeface="Arimo"/>
                <a:ea typeface="Arimo"/>
                <a:cs typeface="Arimo"/>
                <a:sym typeface="Arimo"/>
              </a:rPr>
              <a:t>6 , an iteration count of one shared operator, not depth</a:t>
            </a:r>
          </a:p>
        </p:txBody>
      </p:sp>
      <p:sp>
        <p:nvSpPr>
          <p:cNvPr name="TextBox 9" id="9"/>
          <p:cNvSpPr txBox="true"/>
          <p:nvPr/>
        </p:nvSpPr>
        <p:spPr>
          <a:xfrm rot="0">
            <a:off x="1625603" y="3847786"/>
            <a:ext cx="2201866" cy="313058"/>
          </a:xfrm>
          <a:prstGeom prst="rect">
            <a:avLst/>
          </a:prstGeom>
        </p:spPr>
        <p:txBody>
          <a:bodyPr anchor="t" rtlCol="false" tIns="0" lIns="0" bIns="0" rIns="0">
            <a:spAutoFit/>
          </a:bodyPr>
          <a:lstStyle/>
          <a:p>
            <a:pPr algn="l">
              <a:lnSpc>
                <a:spcPts val="2276"/>
              </a:lnSpc>
            </a:pPr>
            <a:r>
              <a:rPr lang="en-US" sz="1800">
                <a:solidFill>
                  <a:srgbClr val="645C50"/>
                </a:solidFill>
                <a:latin typeface="Arimo"/>
                <a:ea typeface="Arimo"/>
                <a:cs typeface="Arimo"/>
                <a:sym typeface="Arimo"/>
              </a:rPr>
              <a:t>Width</a:t>
            </a:r>
          </a:p>
        </p:txBody>
      </p:sp>
      <p:sp>
        <p:nvSpPr>
          <p:cNvPr name="TextBox 10" id="10"/>
          <p:cNvSpPr txBox="true"/>
          <p:nvPr/>
        </p:nvSpPr>
        <p:spPr>
          <a:xfrm rot="0">
            <a:off x="3902078" y="3784921"/>
            <a:ext cx="5021361" cy="768353"/>
          </a:xfrm>
          <a:prstGeom prst="rect">
            <a:avLst/>
          </a:prstGeom>
        </p:spPr>
        <p:txBody>
          <a:bodyPr anchor="t" rtlCol="false" tIns="0" lIns="0" bIns="0" rIns="0">
            <a:spAutoFit/>
          </a:bodyPr>
          <a:lstStyle/>
          <a:p>
            <a:pPr algn="l">
              <a:lnSpc>
                <a:spcPts val="2925"/>
              </a:lnSpc>
            </a:pPr>
            <a:r>
              <a:rPr lang="en-US" sz="2250">
                <a:solidFill>
                  <a:srgbClr val="201E1D"/>
                </a:solidFill>
                <a:latin typeface="Arimo"/>
                <a:ea typeface="Arimo"/>
                <a:cs typeface="Arimo"/>
                <a:sym typeface="Arimo"/>
              </a:rPr>
              <a:t>D = 192 · 4 heads × 3,072 neurons = </a:t>
            </a:r>
            <a:r>
              <a:rPr lang="en-US" sz="2250" b="true">
                <a:solidFill>
                  <a:srgbClr val="201E1D"/>
                </a:solidFill>
                <a:latin typeface="Arimo Bold"/>
                <a:ea typeface="Arimo Bold"/>
                <a:cs typeface="Arimo Bold"/>
                <a:sym typeface="Arimo Bold"/>
              </a:rPr>
              <a:t>12,288</a:t>
            </a:r>
          </a:p>
        </p:txBody>
      </p:sp>
      <p:sp>
        <p:nvSpPr>
          <p:cNvPr name="TextBox 11" id="11"/>
          <p:cNvSpPr txBox="true"/>
          <p:nvPr/>
        </p:nvSpPr>
        <p:spPr>
          <a:xfrm rot="0">
            <a:off x="9512303" y="3847786"/>
            <a:ext cx="2201866" cy="313058"/>
          </a:xfrm>
          <a:prstGeom prst="rect">
            <a:avLst/>
          </a:prstGeom>
        </p:spPr>
        <p:txBody>
          <a:bodyPr anchor="t" rtlCol="false" tIns="0" lIns="0" bIns="0" rIns="0">
            <a:spAutoFit/>
          </a:bodyPr>
          <a:lstStyle/>
          <a:p>
            <a:pPr algn="l">
              <a:lnSpc>
                <a:spcPts val="2276"/>
              </a:lnSpc>
            </a:pPr>
            <a:r>
              <a:rPr lang="en-US" sz="1800">
                <a:solidFill>
                  <a:srgbClr val="645C50"/>
                </a:solidFill>
                <a:latin typeface="Arimo"/>
                <a:ea typeface="Arimo"/>
                <a:cs typeface="Arimo"/>
                <a:sym typeface="Arimo"/>
              </a:rPr>
              <a:t>Vocabulary</a:t>
            </a:r>
          </a:p>
        </p:txBody>
      </p:sp>
      <p:sp>
        <p:nvSpPr>
          <p:cNvPr name="TextBox 12" id="12"/>
          <p:cNvSpPr txBox="true"/>
          <p:nvPr/>
        </p:nvSpPr>
        <p:spPr>
          <a:xfrm rot="0">
            <a:off x="11788778" y="3784921"/>
            <a:ext cx="5366071" cy="396878"/>
          </a:xfrm>
          <a:prstGeom prst="rect">
            <a:avLst/>
          </a:prstGeom>
        </p:spPr>
        <p:txBody>
          <a:bodyPr anchor="t" rtlCol="false" tIns="0" lIns="0" bIns="0" rIns="0">
            <a:spAutoFit/>
          </a:bodyPr>
          <a:lstStyle/>
          <a:p>
            <a:pPr algn="l">
              <a:lnSpc>
                <a:spcPts val="2925"/>
              </a:lnSpc>
            </a:pPr>
            <a:r>
              <a:rPr lang="en-US" sz="2250">
                <a:solidFill>
                  <a:srgbClr val="201E1D"/>
                </a:solidFill>
                <a:latin typeface="Arimo"/>
                <a:ea typeface="Arimo"/>
                <a:cs typeface="Arimo"/>
                <a:sym typeface="Arimo"/>
              </a:rPr>
              <a:t>256 raw bytes, no tokenizer</a:t>
            </a:r>
          </a:p>
        </p:txBody>
      </p:sp>
      <p:sp>
        <p:nvSpPr>
          <p:cNvPr name="TextBox 13" id="13"/>
          <p:cNvSpPr txBox="true"/>
          <p:nvPr/>
        </p:nvSpPr>
        <p:spPr>
          <a:xfrm rot="0">
            <a:off x="1625603" y="4842196"/>
            <a:ext cx="2201866" cy="313058"/>
          </a:xfrm>
          <a:prstGeom prst="rect">
            <a:avLst/>
          </a:prstGeom>
        </p:spPr>
        <p:txBody>
          <a:bodyPr anchor="t" rtlCol="false" tIns="0" lIns="0" bIns="0" rIns="0">
            <a:spAutoFit/>
          </a:bodyPr>
          <a:lstStyle/>
          <a:p>
            <a:pPr algn="l">
              <a:lnSpc>
                <a:spcPts val="2276"/>
              </a:lnSpc>
            </a:pPr>
            <a:r>
              <a:rPr lang="en-US" sz="1800">
                <a:solidFill>
                  <a:srgbClr val="645C50"/>
                </a:solidFill>
                <a:latin typeface="Arimo"/>
                <a:ea typeface="Arimo"/>
                <a:cs typeface="Arimo"/>
                <a:sym typeface="Arimo"/>
              </a:rPr>
              <a:t>Data</a:t>
            </a:r>
          </a:p>
        </p:txBody>
      </p:sp>
      <p:sp>
        <p:nvSpPr>
          <p:cNvPr name="TextBox 14" id="14"/>
          <p:cNvSpPr txBox="true"/>
          <p:nvPr/>
        </p:nvSpPr>
        <p:spPr>
          <a:xfrm rot="0">
            <a:off x="3902078" y="4779331"/>
            <a:ext cx="5021361" cy="768353"/>
          </a:xfrm>
          <a:prstGeom prst="rect">
            <a:avLst/>
          </a:prstGeom>
        </p:spPr>
        <p:txBody>
          <a:bodyPr anchor="t" rtlCol="false" tIns="0" lIns="0" bIns="0" rIns="0">
            <a:spAutoFit/>
          </a:bodyPr>
          <a:lstStyle/>
          <a:p>
            <a:pPr algn="l">
              <a:lnSpc>
                <a:spcPts val="2925"/>
              </a:lnSpc>
            </a:pPr>
            <a:r>
              <a:rPr lang="en-US" sz="2250">
                <a:solidFill>
                  <a:srgbClr val="201E1D"/>
                </a:solidFill>
                <a:latin typeface="Arimo"/>
                <a:ea typeface="Arimo"/>
                <a:cs typeface="Arimo"/>
                <a:sym typeface="Arimo"/>
              </a:rPr>
              <a:t>Europarl v7 en–fr, interleaved source then target</a:t>
            </a:r>
          </a:p>
        </p:txBody>
      </p:sp>
      <p:sp>
        <p:nvSpPr>
          <p:cNvPr name="TextBox 15" id="15"/>
          <p:cNvSpPr txBox="true"/>
          <p:nvPr/>
        </p:nvSpPr>
        <p:spPr>
          <a:xfrm rot="0">
            <a:off x="9512303" y="4842196"/>
            <a:ext cx="2201866" cy="313058"/>
          </a:xfrm>
          <a:prstGeom prst="rect">
            <a:avLst/>
          </a:prstGeom>
        </p:spPr>
        <p:txBody>
          <a:bodyPr anchor="t" rtlCol="false" tIns="0" lIns="0" bIns="0" rIns="0">
            <a:spAutoFit/>
          </a:bodyPr>
          <a:lstStyle/>
          <a:p>
            <a:pPr algn="l">
              <a:lnSpc>
                <a:spcPts val="2276"/>
              </a:lnSpc>
            </a:pPr>
            <a:r>
              <a:rPr lang="en-US" sz="1800">
                <a:solidFill>
                  <a:srgbClr val="645C50"/>
                </a:solidFill>
                <a:latin typeface="Arimo"/>
                <a:ea typeface="Arimo"/>
                <a:cs typeface="Arimo"/>
                <a:sym typeface="Arimo"/>
              </a:rPr>
              <a:t>Context</a:t>
            </a:r>
          </a:p>
        </p:txBody>
      </p:sp>
      <p:sp>
        <p:nvSpPr>
          <p:cNvPr name="TextBox 16" id="16"/>
          <p:cNvSpPr txBox="true"/>
          <p:nvPr/>
        </p:nvSpPr>
        <p:spPr>
          <a:xfrm rot="0">
            <a:off x="11788778" y="4779331"/>
            <a:ext cx="5366071" cy="396878"/>
          </a:xfrm>
          <a:prstGeom prst="rect">
            <a:avLst/>
          </a:prstGeom>
        </p:spPr>
        <p:txBody>
          <a:bodyPr anchor="t" rtlCol="false" tIns="0" lIns="0" bIns="0" rIns="0">
            <a:spAutoFit/>
          </a:bodyPr>
          <a:lstStyle/>
          <a:p>
            <a:pPr algn="l">
              <a:lnSpc>
                <a:spcPts val="2925"/>
              </a:lnSpc>
            </a:pPr>
            <a:r>
              <a:rPr lang="en-US" sz="2250">
                <a:solidFill>
                  <a:srgbClr val="201E1D"/>
                </a:solidFill>
                <a:latin typeface="Arimo"/>
                <a:ea typeface="Arimo"/>
                <a:cs typeface="Arimo"/>
                <a:sym typeface="Arimo"/>
              </a:rPr>
              <a:t>512 bytes</a:t>
            </a:r>
          </a:p>
        </p:txBody>
      </p:sp>
      <p:sp>
        <p:nvSpPr>
          <p:cNvPr name="TextBox 17" id="17"/>
          <p:cNvSpPr txBox="true"/>
          <p:nvPr/>
        </p:nvSpPr>
        <p:spPr>
          <a:xfrm rot="0">
            <a:off x="1625603" y="5836606"/>
            <a:ext cx="2201866" cy="313058"/>
          </a:xfrm>
          <a:prstGeom prst="rect">
            <a:avLst/>
          </a:prstGeom>
        </p:spPr>
        <p:txBody>
          <a:bodyPr anchor="t" rtlCol="false" tIns="0" lIns="0" bIns="0" rIns="0">
            <a:spAutoFit/>
          </a:bodyPr>
          <a:lstStyle/>
          <a:p>
            <a:pPr algn="l">
              <a:lnSpc>
                <a:spcPts val="2276"/>
              </a:lnSpc>
            </a:pPr>
            <a:r>
              <a:rPr lang="en-US" sz="1800">
                <a:solidFill>
                  <a:srgbClr val="645C50"/>
                </a:solidFill>
                <a:latin typeface="Arimo"/>
                <a:ea typeface="Arimo"/>
                <a:cs typeface="Arimo"/>
                <a:sym typeface="Arimo"/>
              </a:rPr>
              <a:t>Training</a:t>
            </a:r>
          </a:p>
        </p:txBody>
      </p:sp>
      <p:sp>
        <p:nvSpPr>
          <p:cNvPr name="TextBox 18" id="18"/>
          <p:cNvSpPr txBox="true"/>
          <p:nvPr/>
        </p:nvSpPr>
        <p:spPr>
          <a:xfrm rot="0">
            <a:off x="3902078" y="5773741"/>
            <a:ext cx="5021361" cy="752475"/>
          </a:xfrm>
          <a:prstGeom prst="rect">
            <a:avLst/>
          </a:prstGeom>
        </p:spPr>
        <p:txBody>
          <a:bodyPr anchor="t" rtlCol="false" tIns="0" lIns="0" bIns="0" rIns="0">
            <a:spAutoFit/>
          </a:bodyPr>
          <a:lstStyle/>
          <a:p>
            <a:pPr algn="l">
              <a:lnSpc>
                <a:spcPts val="2925"/>
              </a:lnSpc>
            </a:pPr>
            <a:r>
              <a:rPr lang="en-US" sz="2250">
                <a:solidFill>
                  <a:srgbClr val="201E1D"/>
                </a:solidFill>
                <a:latin typeface="Arimo"/>
                <a:ea typeface="Arimo"/>
                <a:cs typeface="Arimo"/>
                <a:sym typeface="Arimo"/>
              </a:rPr>
              <a:t>50,000 iterations, AdamW, one A100, roughly 4.5 hrs</a:t>
            </a:r>
          </a:p>
        </p:txBody>
      </p:sp>
      <p:sp>
        <p:nvSpPr>
          <p:cNvPr name="TextBox 19" id="19"/>
          <p:cNvSpPr txBox="true"/>
          <p:nvPr/>
        </p:nvSpPr>
        <p:spPr>
          <a:xfrm rot="0">
            <a:off x="9512303" y="5836606"/>
            <a:ext cx="2201866" cy="313058"/>
          </a:xfrm>
          <a:prstGeom prst="rect">
            <a:avLst/>
          </a:prstGeom>
        </p:spPr>
        <p:txBody>
          <a:bodyPr anchor="t" rtlCol="false" tIns="0" lIns="0" bIns="0" rIns="0">
            <a:spAutoFit/>
          </a:bodyPr>
          <a:lstStyle/>
          <a:p>
            <a:pPr algn="l">
              <a:lnSpc>
                <a:spcPts val="2276"/>
              </a:lnSpc>
            </a:pPr>
            <a:r>
              <a:rPr lang="en-US" sz="1800">
                <a:solidFill>
                  <a:srgbClr val="645C50"/>
                </a:solidFill>
                <a:latin typeface="Arimo"/>
                <a:ea typeface="Arimo"/>
                <a:cs typeface="Arimo"/>
                <a:sym typeface="Arimo"/>
              </a:rPr>
              <a:t>Final loss</a:t>
            </a:r>
          </a:p>
        </p:txBody>
      </p:sp>
      <p:sp>
        <p:nvSpPr>
          <p:cNvPr name="TextBox 20" id="20"/>
          <p:cNvSpPr txBox="true"/>
          <p:nvPr/>
        </p:nvSpPr>
        <p:spPr>
          <a:xfrm rot="0">
            <a:off x="11788778" y="5773741"/>
            <a:ext cx="5021361" cy="768353"/>
          </a:xfrm>
          <a:prstGeom prst="rect">
            <a:avLst/>
          </a:prstGeom>
        </p:spPr>
        <p:txBody>
          <a:bodyPr anchor="t" rtlCol="false" tIns="0" lIns="0" bIns="0" rIns="0">
            <a:spAutoFit/>
          </a:bodyPr>
          <a:lstStyle/>
          <a:p>
            <a:pPr algn="l">
              <a:lnSpc>
                <a:spcPts val="2925"/>
              </a:lnSpc>
            </a:pPr>
            <a:r>
              <a:rPr lang="en-US" sz="2250" b="true">
                <a:solidFill>
                  <a:srgbClr val="201E1D"/>
                </a:solidFill>
                <a:latin typeface="Arimo Bold"/>
                <a:ea typeface="Arimo Bold"/>
                <a:cs typeface="Arimo Bold"/>
                <a:sym typeface="Arimo Bold"/>
              </a:rPr>
              <a:t>0.670 </a:t>
            </a:r>
            <a:r>
              <a:rPr lang="en-US" sz="2250">
                <a:solidFill>
                  <a:srgbClr val="201E1D"/>
                </a:solidFill>
                <a:latin typeface="Arimo"/>
                <a:ea typeface="Arimo"/>
                <a:cs typeface="Arimo"/>
                <a:sym typeface="Arimo"/>
              </a:rPr>
              <a:t>val, 0.648 train (nats/byte, held-out Europarl)</a:t>
            </a:r>
          </a:p>
        </p:txBody>
      </p:sp>
      <p:sp>
        <p:nvSpPr>
          <p:cNvPr name="TextBox 21" id="21"/>
          <p:cNvSpPr txBox="true"/>
          <p:nvPr/>
        </p:nvSpPr>
        <p:spPr>
          <a:xfrm rot="0">
            <a:off x="1280095" y="7170744"/>
            <a:ext cx="12709750" cy="377828"/>
          </a:xfrm>
          <a:prstGeom prst="rect">
            <a:avLst/>
          </a:prstGeom>
        </p:spPr>
        <p:txBody>
          <a:bodyPr anchor="t" rtlCol="false" tIns="0" lIns="0" bIns="0" rIns="0">
            <a:spAutoFit/>
          </a:bodyPr>
          <a:lstStyle/>
          <a:p>
            <a:pPr algn="l">
              <a:lnSpc>
                <a:spcPts val="2590"/>
              </a:lnSpc>
            </a:pPr>
            <a:r>
              <a:rPr lang="en-US" sz="1875">
                <a:solidFill>
                  <a:srgbClr val="474238"/>
                </a:solidFill>
                <a:latin typeface="Arimo"/>
                <a:ea typeface="Arimo"/>
                <a:cs typeface="Arimo"/>
                <a:sym typeface="Arimo"/>
              </a:rPr>
              <a:t>The trained 8M model as built and run. Ours, models/README.md.</a:t>
            </a:r>
          </a:p>
        </p:txBody>
      </p:sp>
      <p:sp>
        <p:nvSpPr>
          <p:cNvPr name="TextBox 22" id="22"/>
          <p:cNvSpPr txBox="true"/>
          <p:nvPr/>
        </p:nvSpPr>
        <p:spPr>
          <a:xfrm rot="0">
            <a:off x="1480823" y="7871784"/>
            <a:ext cx="14865353" cy="359669"/>
          </a:xfrm>
          <a:prstGeom prst="rect">
            <a:avLst/>
          </a:prstGeom>
        </p:spPr>
        <p:txBody>
          <a:bodyPr anchor="t" rtlCol="false" tIns="0" lIns="0" bIns="0" rIns="0">
            <a:spAutoFit/>
          </a:bodyPr>
          <a:lstStyle/>
          <a:p>
            <a:pPr algn="l">
              <a:lnSpc>
                <a:spcPts val="2972"/>
              </a:lnSpc>
            </a:pPr>
            <a:r>
              <a:rPr lang="en-US" sz="2025" b="true">
                <a:solidFill>
                  <a:srgbClr val="201E1D"/>
                </a:solidFill>
                <a:latin typeface="Arimo Bold"/>
                <a:ea typeface="Arimo Bold"/>
                <a:cs typeface="Arimo Bold"/>
                <a:sym typeface="Arimo Bold"/>
              </a:rPr>
              <a:t>34.3% of causal attention scores are negative. </a:t>
            </a:r>
            <a:r>
              <a:rPr lang="en-US" sz="2025">
                <a:solidFill>
                  <a:srgbClr val="201E1D"/>
                </a:solidFill>
                <a:latin typeface="Arimo"/>
                <a:ea typeface="Arimo"/>
                <a:cs typeface="Arimo"/>
                <a:sym typeface="Arimo"/>
              </a:rPr>
              <a:t>RoPE, not a decay term, is what makes this model forget.</a:t>
            </a:r>
          </a:p>
        </p:txBody>
      </p:sp>
      <p:grpSp>
        <p:nvGrpSpPr>
          <p:cNvPr name="Group 23" id="23"/>
          <p:cNvGrpSpPr/>
          <p:nvPr/>
        </p:nvGrpSpPr>
        <p:grpSpPr>
          <a:xfrm rot="0">
            <a:off x="11967324" y="9456420"/>
            <a:ext cx="5253876" cy="506730"/>
            <a:chOff x="0" y="0"/>
            <a:chExt cx="7005168" cy="675640"/>
          </a:xfrm>
        </p:grpSpPr>
        <p:sp>
          <p:nvSpPr>
            <p:cNvPr name="Freeform 24" id="24"/>
            <p:cNvSpPr/>
            <p:nvPr/>
          </p:nvSpPr>
          <p:spPr>
            <a:xfrm flipH="false" flipV="false" rot="0">
              <a:off x="0" y="0"/>
              <a:ext cx="7005193" cy="675640"/>
            </a:xfrm>
            <a:custGeom>
              <a:avLst/>
              <a:gdLst/>
              <a:ahLst/>
              <a:cxnLst/>
              <a:rect r="r" b="b" t="t" l="l"/>
              <a:pathLst>
                <a:path h="675640" w="7005193">
                  <a:moveTo>
                    <a:pt x="0" y="337820"/>
                  </a:moveTo>
                  <a:cubicBezTo>
                    <a:pt x="0" y="151257"/>
                    <a:pt x="151257" y="0"/>
                    <a:pt x="337820" y="0"/>
                  </a:cubicBezTo>
                  <a:lnTo>
                    <a:pt x="6667373" y="0"/>
                  </a:lnTo>
                  <a:cubicBezTo>
                    <a:pt x="6853936" y="0"/>
                    <a:pt x="7005193" y="151257"/>
                    <a:pt x="7005193" y="337820"/>
                  </a:cubicBezTo>
                  <a:cubicBezTo>
                    <a:pt x="7005193" y="524383"/>
                    <a:pt x="6853936" y="675640"/>
                    <a:pt x="6667373" y="675640"/>
                  </a:cubicBezTo>
                  <a:lnTo>
                    <a:pt x="337820" y="675640"/>
                  </a:lnTo>
                  <a:cubicBezTo>
                    <a:pt x="151257" y="675640"/>
                    <a:pt x="0" y="524383"/>
                    <a:pt x="0" y="337820"/>
                  </a:cubicBezTo>
                  <a:close/>
                </a:path>
              </a:pathLst>
            </a:custGeom>
            <a:solidFill>
              <a:srgbClr val="EBDDC5"/>
            </a:solidFill>
          </p:spPr>
        </p:sp>
      </p:grpSp>
      <p:grpSp>
        <p:nvGrpSpPr>
          <p:cNvPr name="Group 25" id="25"/>
          <p:cNvGrpSpPr/>
          <p:nvPr/>
        </p:nvGrpSpPr>
        <p:grpSpPr>
          <a:xfrm rot="0">
            <a:off x="11967324" y="9456420"/>
            <a:ext cx="5253876" cy="506730"/>
            <a:chOff x="0" y="0"/>
            <a:chExt cx="7005168" cy="675640"/>
          </a:xfrm>
        </p:grpSpPr>
        <p:sp>
          <p:nvSpPr>
            <p:cNvPr name="Freeform 26" id="26" descr="preencoded.png"/>
            <p:cNvSpPr/>
            <p:nvPr/>
          </p:nvSpPr>
          <p:spPr>
            <a:xfrm flipH="false" flipV="false" rot="0">
              <a:off x="0" y="0"/>
              <a:ext cx="7005193" cy="675640"/>
            </a:xfrm>
            <a:custGeom>
              <a:avLst/>
              <a:gdLst/>
              <a:ahLst/>
              <a:cxnLst/>
              <a:rect r="r" b="b" t="t" l="l"/>
              <a:pathLst>
                <a:path h="675640" w="7005193">
                  <a:moveTo>
                    <a:pt x="0" y="0"/>
                  </a:moveTo>
                  <a:lnTo>
                    <a:pt x="7005193" y="0"/>
                  </a:lnTo>
                  <a:lnTo>
                    <a:pt x="7005193" y="675640"/>
                  </a:lnTo>
                  <a:lnTo>
                    <a:pt x="0" y="675640"/>
                  </a:lnTo>
                  <a:lnTo>
                    <a:pt x="0" y="0"/>
                  </a:lnTo>
                  <a:close/>
                </a:path>
              </a:pathLst>
            </a:custGeom>
            <a:blipFill>
              <a:blip r:embed="rId3"/>
              <a:stretch>
                <a:fillRect l="-180" t="0" r="-180" b="0"/>
              </a:stretch>
            </a:blipFill>
          </p:spPr>
        </p:sp>
      </p:gr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5EAD8"/>
        </a:solidFill>
      </p:bgPr>
    </p:bg>
    <p:spTree>
      <p:nvGrpSpPr>
        <p:cNvPr id="1" name=""/>
        <p:cNvGrpSpPr/>
        <p:nvPr/>
      </p:nvGrpSpPr>
      <p:grpSpPr>
        <a:xfrm>
          <a:off x="0" y="0"/>
          <a:ext cx="0" cy="0"/>
          <a:chOff x="0" y="0"/>
          <a:chExt cx="0" cy="0"/>
        </a:xfrm>
      </p:grpSpPr>
      <p:sp>
        <p:nvSpPr>
          <p:cNvPr name="TextBox 2" id="2"/>
          <p:cNvSpPr txBox="true"/>
          <p:nvPr/>
        </p:nvSpPr>
        <p:spPr>
          <a:xfrm rot="0">
            <a:off x="1092203" y="844553"/>
            <a:ext cx="15253973" cy="1178881"/>
          </a:xfrm>
          <a:prstGeom prst="rect">
            <a:avLst/>
          </a:prstGeom>
        </p:spPr>
        <p:txBody>
          <a:bodyPr anchor="t" rtlCol="false" tIns="0" lIns="0" bIns="0" rIns="0">
            <a:spAutoFit/>
          </a:bodyPr>
          <a:lstStyle/>
          <a:p>
            <a:pPr algn="l">
              <a:lnSpc>
                <a:spcPts val="4856"/>
              </a:lnSpc>
            </a:pPr>
            <a:r>
              <a:rPr lang="en-US" sz="4050">
                <a:solidFill>
                  <a:srgbClr val="201E1D"/>
                </a:solidFill>
                <a:latin typeface="Arimo"/>
                <a:ea typeface="Arimo"/>
                <a:cs typeface="Arimo"/>
                <a:sym typeface="Arimo"/>
              </a:rPr>
              <a:t>Results: it beats a model 70× its size in domain, and it sparsifies itself.</a:t>
            </a:r>
          </a:p>
        </p:txBody>
      </p:sp>
      <p:grpSp>
        <p:nvGrpSpPr>
          <p:cNvPr name="Group 3" id="3"/>
          <p:cNvGrpSpPr/>
          <p:nvPr/>
        </p:nvGrpSpPr>
        <p:grpSpPr>
          <a:xfrm rot="0">
            <a:off x="1066800" y="2346008"/>
            <a:ext cx="8370456" cy="4667250"/>
            <a:chOff x="0" y="0"/>
            <a:chExt cx="11160608" cy="6223000"/>
          </a:xfrm>
        </p:grpSpPr>
        <p:sp>
          <p:nvSpPr>
            <p:cNvPr name="Freeform 4" id="4" descr="preencoded.png"/>
            <p:cNvSpPr/>
            <p:nvPr/>
          </p:nvSpPr>
          <p:spPr>
            <a:xfrm flipH="false" flipV="false" rot="0">
              <a:off x="0" y="0"/>
              <a:ext cx="11160633" cy="6223000"/>
            </a:xfrm>
            <a:custGeom>
              <a:avLst/>
              <a:gdLst/>
              <a:ahLst/>
              <a:cxnLst/>
              <a:rect r="r" b="b" t="t" l="l"/>
              <a:pathLst>
                <a:path h="6223000" w="11160633">
                  <a:moveTo>
                    <a:pt x="0" y="0"/>
                  </a:moveTo>
                  <a:lnTo>
                    <a:pt x="11160633" y="0"/>
                  </a:lnTo>
                  <a:lnTo>
                    <a:pt x="11160633" y="6223000"/>
                  </a:lnTo>
                  <a:lnTo>
                    <a:pt x="0" y="6223000"/>
                  </a:lnTo>
                  <a:lnTo>
                    <a:pt x="0" y="0"/>
                  </a:lnTo>
                  <a:close/>
                </a:path>
              </a:pathLst>
            </a:custGeom>
            <a:blipFill>
              <a:blip r:embed="rId3"/>
              <a:stretch>
                <a:fillRect l="0" t="0" r="0" b="0"/>
              </a:stretch>
            </a:blipFill>
          </p:spPr>
        </p:sp>
      </p:grpSp>
      <p:sp>
        <p:nvSpPr>
          <p:cNvPr name="TextBox 5" id="5"/>
          <p:cNvSpPr txBox="true"/>
          <p:nvPr/>
        </p:nvSpPr>
        <p:spPr>
          <a:xfrm rot="0">
            <a:off x="1092203" y="7149151"/>
            <a:ext cx="8778878" cy="711203"/>
          </a:xfrm>
          <a:prstGeom prst="rect">
            <a:avLst/>
          </a:prstGeom>
        </p:spPr>
        <p:txBody>
          <a:bodyPr anchor="t" rtlCol="false" tIns="0" lIns="0" bIns="0" rIns="0">
            <a:spAutoFit/>
          </a:bodyPr>
          <a:lstStyle/>
          <a:p>
            <a:pPr algn="l">
              <a:lnSpc>
                <a:spcPts val="2590"/>
              </a:lnSpc>
            </a:pPr>
            <a:r>
              <a:rPr lang="en-US" sz="1875">
                <a:solidFill>
                  <a:srgbClr val="474238"/>
                </a:solidFill>
                <a:latin typeface="Arimo"/>
                <a:ea typeface="Arimo"/>
                <a:cs typeface="Arimo"/>
                <a:sym typeface="Arimo"/>
              </a:rPr>
              <a:t>Share of neurons active during training, from each run's own three-sentence probes. No sparsity term appears in the loss. Ours, research/plot_training.py.</a:t>
            </a:r>
          </a:p>
        </p:txBody>
      </p:sp>
      <p:sp>
        <p:nvSpPr>
          <p:cNvPr name="TextBox 6" id="6"/>
          <p:cNvSpPr txBox="true"/>
          <p:nvPr/>
        </p:nvSpPr>
        <p:spPr>
          <a:xfrm rot="0">
            <a:off x="10731503" y="2314261"/>
            <a:ext cx="6671186" cy="731144"/>
          </a:xfrm>
          <a:prstGeom prst="rect">
            <a:avLst/>
          </a:prstGeom>
        </p:spPr>
        <p:txBody>
          <a:bodyPr anchor="t" rtlCol="false" tIns="0" lIns="0" bIns="0" rIns="0">
            <a:spAutoFit/>
          </a:bodyPr>
          <a:lstStyle/>
          <a:p>
            <a:pPr algn="l">
              <a:lnSpc>
                <a:spcPts val="2972"/>
              </a:lnSpc>
            </a:pPr>
            <a:r>
              <a:rPr lang="en-US" sz="2025" b="true">
                <a:solidFill>
                  <a:srgbClr val="201E1D"/>
                </a:solidFill>
                <a:latin typeface="Arimo Bold"/>
                <a:ea typeface="Arimo Bold"/>
                <a:cs typeface="Arimo Bold"/>
                <a:sym typeface="Arimo Bold"/>
              </a:rPr>
              <a:t>0.904 bits per byte </a:t>
            </a:r>
            <a:r>
              <a:rPr lang="en-US" sz="2025">
                <a:solidFill>
                  <a:srgbClr val="201E1D"/>
                </a:solidFill>
                <a:latin typeface="Arimo"/>
                <a:ea typeface="Arimo"/>
                <a:cs typeface="Arimo"/>
                <a:sym typeface="Arimo"/>
              </a:rPr>
              <a:t>on held-out Europarl, ahead of BLOOM-560m at 0.974. Final validation loss 0.670.</a:t>
            </a:r>
          </a:p>
        </p:txBody>
      </p:sp>
      <p:sp>
        <p:nvSpPr>
          <p:cNvPr name="TextBox 7" id="7"/>
          <p:cNvSpPr txBox="true"/>
          <p:nvPr/>
        </p:nvSpPr>
        <p:spPr>
          <a:xfrm rot="0">
            <a:off x="10731503" y="3684432"/>
            <a:ext cx="6671186" cy="1845569"/>
          </a:xfrm>
          <a:prstGeom prst="rect">
            <a:avLst/>
          </a:prstGeom>
        </p:spPr>
        <p:txBody>
          <a:bodyPr anchor="t" rtlCol="false" tIns="0" lIns="0" bIns="0" rIns="0">
            <a:spAutoFit/>
          </a:bodyPr>
          <a:lstStyle/>
          <a:p>
            <a:pPr algn="l">
              <a:lnSpc>
                <a:spcPts val="2972"/>
              </a:lnSpc>
            </a:pPr>
            <a:r>
              <a:rPr lang="en-US" sz="2025" b="true">
                <a:solidFill>
                  <a:srgbClr val="201E1D"/>
                </a:solidFill>
                <a:latin typeface="Arimo Bold"/>
                <a:ea typeface="Arimo Bold"/>
                <a:cs typeface="Arimo Bold"/>
                <a:sym typeface="Arimo Bold"/>
              </a:rPr>
              <a:t>Sparsity it was never asked for: </a:t>
            </a:r>
            <a:r>
              <a:rPr lang="en-US" sz="2025">
                <a:solidFill>
                  <a:srgbClr val="201E1D"/>
                </a:solidFill>
                <a:latin typeface="Arimo"/>
                <a:ea typeface="Arimo"/>
                <a:cs typeface="Arimo"/>
                <a:sym typeface="Arimo"/>
              </a:rPr>
              <a:t>half the network at initialisation down to 5.1%, and 5.13% active over 55,959,552 neuron-token slots on our full export. Measured against GPT-2 on one shared test, BDH is </a:t>
            </a:r>
            <a:r>
              <a:rPr lang="en-US" sz="2025" b="true">
                <a:solidFill>
                  <a:srgbClr val="201E1D"/>
                </a:solidFill>
                <a:latin typeface="Arimo Bold"/>
                <a:ea typeface="Arimo Bold"/>
                <a:cs typeface="Arimo Bold"/>
                <a:sym typeface="Arimo Bold"/>
              </a:rPr>
              <a:t>4.93% </a:t>
            </a:r>
            <a:r>
              <a:rPr lang="en-US" sz="2025">
                <a:solidFill>
                  <a:srgbClr val="201E1D"/>
                </a:solidFill>
                <a:latin typeface="Arimo"/>
                <a:ea typeface="Arimo"/>
                <a:cs typeface="Arimo"/>
                <a:sym typeface="Arimo"/>
              </a:rPr>
              <a:t>active and GPT-2 </a:t>
            </a:r>
            <a:r>
              <a:rPr lang="en-US" sz="2025" b="true">
                <a:solidFill>
                  <a:srgbClr val="201E1D"/>
                </a:solidFill>
                <a:latin typeface="Arimo Bold"/>
                <a:ea typeface="Arimo Bold"/>
                <a:cs typeface="Arimo Bold"/>
                <a:sym typeface="Arimo Bold"/>
              </a:rPr>
              <a:t>86.3%</a:t>
            </a:r>
            <a:r>
              <a:rPr lang="en-US" sz="2025">
                <a:solidFill>
                  <a:srgbClr val="201E1D"/>
                </a:solidFill>
                <a:latin typeface="Arimo"/>
                <a:ea typeface="Arimo"/>
                <a:cs typeface="Arimo"/>
                <a:sym typeface="Arimo"/>
              </a:rPr>
              <a:t>.</a:t>
            </a:r>
          </a:p>
        </p:txBody>
      </p:sp>
      <p:sp>
        <p:nvSpPr>
          <p:cNvPr name="TextBox 8" id="8"/>
          <p:cNvSpPr txBox="true"/>
          <p:nvPr/>
        </p:nvSpPr>
        <p:spPr>
          <a:xfrm rot="0">
            <a:off x="10731503" y="5800411"/>
            <a:ext cx="6671186" cy="1102619"/>
          </a:xfrm>
          <a:prstGeom prst="rect">
            <a:avLst/>
          </a:prstGeom>
        </p:spPr>
        <p:txBody>
          <a:bodyPr anchor="t" rtlCol="false" tIns="0" lIns="0" bIns="0" rIns="0">
            <a:spAutoFit/>
          </a:bodyPr>
          <a:lstStyle/>
          <a:p>
            <a:pPr algn="l">
              <a:lnSpc>
                <a:spcPts val="2972"/>
              </a:lnSpc>
            </a:pPr>
            <a:r>
              <a:rPr lang="en-US" sz="2025" b="true">
                <a:solidFill>
                  <a:srgbClr val="201E1D"/>
                </a:solidFill>
                <a:latin typeface="Arimo Bold"/>
                <a:ea typeface="Arimo Bold"/>
                <a:cs typeface="Arimo Bold"/>
                <a:sym typeface="Arimo Bold"/>
              </a:rPr>
              <a:t>The structure is readable. </a:t>
            </a:r>
            <a:r>
              <a:rPr lang="en-US" sz="2025">
                <a:solidFill>
                  <a:srgbClr val="201E1D"/>
                </a:solidFill>
                <a:latin typeface="Arimo"/>
                <a:ea typeface="Arimo"/>
                <a:cs typeface="Arimo"/>
                <a:sym typeface="Arimo"/>
              </a:rPr>
              <a:t>G*, computed from the weights with no data, predicts which neurons stay silent at MCC +0.944.</a:t>
            </a:r>
          </a:p>
        </p:txBody>
      </p:sp>
      <p:sp>
        <p:nvSpPr>
          <p:cNvPr name="TextBox 9" id="9"/>
          <p:cNvSpPr txBox="true"/>
          <p:nvPr/>
        </p:nvSpPr>
        <p:spPr>
          <a:xfrm rot="0">
            <a:off x="10731503" y="7170582"/>
            <a:ext cx="6671186" cy="731144"/>
          </a:xfrm>
          <a:prstGeom prst="rect">
            <a:avLst/>
          </a:prstGeom>
        </p:spPr>
        <p:txBody>
          <a:bodyPr anchor="t" rtlCol="false" tIns="0" lIns="0" bIns="0" rIns="0">
            <a:spAutoFit/>
          </a:bodyPr>
          <a:lstStyle/>
          <a:p>
            <a:pPr algn="l">
              <a:lnSpc>
                <a:spcPts val="2972"/>
              </a:lnSpc>
            </a:pPr>
            <a:r>
              <a:rPr lang="en-US" sz="2025" b="true">
                <a:solidFill>
                  <a:srgbClr val="201E1D"/>
                </a:solidFill>
                <a:latin typeface="Arimo Bold"/>
                <a:ea typeface="Arimo Bold"/>
                <a:cs typeface="Arimo Bold"/>
                <a:sym typeface="Arimo Bold"/>
              </a:rPr>
              <a:t>It replicates </a:t>
            </a:r>
            <a:r>
              <a:rPr lang="en-US" sz="2025">
                <a:solidFill>
                  <a:srgbClr val="201E1D"/>
                </a:solidFill>
                <a:latin typeface="Arimo"/>
                <a:ea typeface="Arimo"/>
                <a:cs typeface="Arimo"/>
                <a:sym typeface="Arimo"/>
              </a:rPr>
              <a:t>on an independently trained Portuguese sibling, MCC +0.908.</a:t>
            </a:r>
          </a:p>
        </p:txBody>
      </p:sp>
      <p:sp>
        <p:nvSpPr>
          <p:cNvPr name="TextBox 10" id="10"/>
          <p:cNvSpPr txBox="true"/>
          <p:nvPr/>
        </p:nvSpPr>
        <p:spPr>
          <a:xfrm rot="0">
            <a:off x="1092203" y="8093554"/>
            <a:ext cx="16712413" cy="315353"/>
          </a:xfrm>
          <a:prstGeom prst="rect">
            <a:avLst/>
          </a:prstGeom>
        </p:spPr>
        <p:txBody>
          <a:bodyPr anchor="t" rtlCol="false" tIns="0" lIns="0" bIns="0" rIns="0">
            <a:spAutoFit/>
          </a:bodyPr>
          <a:lstStyle/>
          <a:p>
            <a:pPr algn="l">
              <a:lnSpc>
                <a:spcPts val="2451"/>
              </a:lnSpc>
            </a:pPr>
            <a:r>
              <a:rPr lang="en-US" sz="1800">
                <a:solidFill>
                  <a:srgbClr val="201E1D"/>
                </a:solidFill>
                <a:latin typeface="Arimo"/>
                <a:ea typeface="Arimo"/>
                <a:cs typeface="Arimo"/>
                <a:sym typeface="Arimo"/>
              </a:rPr>
              <a:t>"The European Parliament voted against this resolution" → </a:t>
            </a:r>
            <a:r>
              <a:rPr lang="en-US" sz="1800">
                <a:solidFill>
                  <a:srgbClr val="8C491A"/>
                </a:solidFill>
                <a:latin typeface="Arimo"/>
                <a:ea typeface="Arimo"/>
                <a:cs typeface="Arimo"/>
                <a:sym typeface="Arimo"/>
              </a:rPr>
              <a:t>"Le Parlement européen a voté contre cette résolution"</a:t>
            </a:r>
          </a:p>
        </p:txBody>
      </p:sp>
      <p:grpSp>
        <p:nvGrpSpPr>
          <p:cNvPr name="Group 11" id="11"/>
          <p:cNvGrpSpPr/>
          <p:nvPr/>
        </p:nvGrpSpPr>
        <p:grpSpPr>
          <a:xfrm rot="0">
            <a:off x="11967324" y="9456420"/>
            <a:ext cx="5253876" cy="506730"/>
            <a:chOff x="0" y="0"/>
            <a:chExt cx="7005168" cy="675640"/>
          </a:xfrm>
        </p:grpSpPr>
        <p:sp>
          <p:nvSpPr>
            <p:cNvPr name="Freeform 12" id="12"/>
            <p:cNvSpPr/>
            <p:nvPr/>
          </p:nvSpPr>
          <p:spPr>
            <a:xfrm flipH="false" flipV="false" rot="0">
              <a:off x="0" y="0"/>
              <a:ext cx="7005193" cy="675640"/>
            </a:xfrm>
            <a:custGeom>
              <a:avLst/>
              <a:gdLst/>
              <a:ahLst/>
              <a:cxnLst/>
              <a:rect r="r" b="b" t="t" l="l"/>
              <a:pathLst>
                <a:path h="675640" w="7005193">
                  <a:moveTo>
                    <a:pt x="0" y="337820"/>
                  </a:moveTo>
                  <a:cubicBezTo>
                    <a:pt x="0" y="151257"/>
                    <a:pt x="151257" y="0"/>
                    <a:pt x="337820" y="0"/>
                  </a:cubicBezTo>
                  <a:lnTo>
                    <a:pt x="6667373" y="0"/>
                  </a:lnTo>
                  <a:cubicBezTo>
                    <a:pt x="6853936" y="0"/>
                    <a:pt x="7005193" y="151257"/>
                    <a:pt x="7005193" y="337820"/>
                  </a:cubicBezTo>
                  <a:cubicBezTo>
                    <a:pt x="7005193" y="524383"/>
                    <a:pt x="6853936" y="675640"/>
                    <a:pt x="6667373" y="675640"/>
                  </a:cubicBezTo>
                  <a:lnTo>
                    <a:pt x="337820" y="675640"/>
                  </a:lnTo>
                  <a:cubicBezTo>
                    <a:pt x="151257" y="675640"/>
                    <a:pt x="0" y="524383"/>
                    <a:pt x="0" y="337820"/>
                  </a:cubicBezTo>
                  <a:close/>
                </a:path>
              </a:pathLst>
            </a:custGeom>
            <a:solidFill>
              <a:srgbClr val="EBDDC5"/>
            </a:solidFill>
          </p:spPr>
        </p:sp>
      </p:grpSp>
      <p:grpSp>
        <p:nvGrpSpPr>
          <p:cNvPr name="Group 13" id="13"/>
          <p:cNvGrpSpPr/>
          <p:nvPr/>
        </p:nvGrpSpPr>
        <p:grpSpPr>
          <a:xfrm rot="0">
            <a:off x="11967324" y="9456420"/>
            <a:ext cx="5253876" cy="506730"/>
            <a:chOff x="0" y="0"/>
            <a:chExt cx="7005168" cy="675640"/>
          </a:xfrm>
        </p:grpSpPr>
        <p:sp>
          <p:nvSpPr>
            <p:cNvPr name="Freeform 14" id="14" descr="preencoded.png"/>
            <p:cNvSpPr/>
            <p:nvPr/>
          </p:nvSpPr>
          <p:spPr>
            <a:xfrm flipH="false" flipV="false" rot="0">
              <a:off x="0" y="0"/>
              <a:ext cx="7005193" cy="675640"/>
            </a:xfrm>
            <a:custGeom>
              <a:avLst/>
              <a:gdLst/>
              <a:ahLst/>
              <a:cxnLst/>
              <a:rect r="r" b="b" t="t" l="l"/>
              <a:pathLst>
                <a:path h="675640" w="7005193">
                  <a:moveTo>
                    <a:pt x="0" y="0"/>
                  </a:moveTo>
                  <a:lnTo>
                    <a:pt x="7005193" y="0"/>
                  </a:lnTo>
                  <a:lnTo>
                    <a:pt x="7005193" y="675640"/>
                  </a:lnTo>
                  <a:lnTo>
                    <a:pt x="0" y="675640"/>
                  </a:lnTo>
                  <a:lnTo>
                    <a:pt x="0" y="0"/>
                  </a:lnTo>
                  <a:close/>
                </a:path>
              </a:pathLst>
            </a:custGeom>
            <a:blipFill>
              <a:blip r:embed="rId4"/>
              <a:stretch>
                <a:fillRect l="-180" t="0" r="-180"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EAD8"/>
        </a:solidFill>
      </p:bgPr>
    </p:bg>
    <p:spTree>
      <p:nvGrpSpPr>
        <p:cNvPr id="1" name=""/>
        <p:cNvGrpSpPr/>
        <p:nvPr/>
      </p:nvGrpSpPr>
      <p:grpSpPr>
        <a:xfrm>
          <a:off x="0" y="0"/>
          <a:ext cx="0" cy="0"/>
          <a:chOff x="0" y="0"/>
          <a:chExt cx="0" cy="0"/>
        </a:xfrm>
      </p:grpSpPr>
      <p:sp>
        <p:nvSpPr>
          <p:cNvPr name="TextBox 2" id="2"/>
          <p:cNvSpPr txBox="true"/>
          <p:nvPr/>
        </p:nvSpPr>
        <p:spPr>
          <a:xfrm rot="0">
            <a:off x="1092203" y="844553"/>
            <a:ext cx="16294103" cy="592617"/>
          </a:xfrm>
          <a:prstGeom prst="rect">
            <a:avLst/>
          </a:prstGeom>
        </p:spPr>
        <p:txBody>
          <a:bodyPr anchor="t" rtlCol="false" tIns="0" lIns="0" bIns="0" rIns="0">
            <a:spAutoFit/>
          </a:bodyPr>
          <a:lstStyle/>
          <a:p>
            <a:pPr algn="l">
              <a:lnSpc>
                <a:spcPts val="4856"/>
              </a:lnSpc>
            </a:pPr>
            <a:r>
              <a:rPr lang="en-US" sz="4050">
                <a:solidFill>
                  <a:srgbClr val="201E1D"/>
                </a:solidFill>
                <a:latin typeface="Arimo"/>
                <a:ea typeface="Arimo"/>
                <a:cs typeface="Arimo"/>
                <a:sym typeface="Arimo"/>
              </a:rPr>
              <a:t>Demonstrations are weights you write at inference time.</a:t>
            </a:r>
          </a:p>
        </p:txBody>
      </p:sp>
      <p:grpSp>
        <p:nvGrpSpPr>
          <p:cNvPr name="Group 3" id="3"/>
          <p:cNvGrpSpPr/>
          <p:nvPr/>
        </p:nvGrpSpPr>
        <p:grpSpPr>
          <a:xfrm rot="0">
            <a:off x="1066800" y="1759744"/>
            <a:ext cx="7652385" cy="5334000"/>
            <a:chOff x="0" y="0"/>
            <a:chExt cx="10203180" cy="7112000"/>
          </a:xfrm>
        </p:grpSpPr>
        <p:sp>
          <p:nvSpPr>
            <p:cNvPr name="Freeform 4" id="4" descr="preencoded.png"/>
            <p:cNvSpPr/>
            <p:nvPr/>
          </p:nvSpPr>
          <p:spPr>
            <a:xfrm flipH="false" flipV="false" rot="0">
              <a:off x="0" y="0"/>
              <a:ext cx="10203180" cy="7112000"/>
            </a:xfrm>
            <a:custGeom>
              <a:avLst/>
              <a:gdLst/>
              <a:ahLst/>
              <a:cxnLst/>
              <a:rect r="r" b="b" t="t" l="l"/>
              <a:pathLst>
                <a:path h="7112000" w="10203180">
                  <a:moveTo>
                    <a:pt x="0" y="0"/>
                  </a:moveTo>
                  <a:lnTo>
                    <a:pt x="10203180" y="0"/>
                  </a:lnTo>
                  <a:lnTo>
                    <a:pt x="10203180" y="7112000"/>
                  </a:lnTo>
                  <a:lnTo>
                    <a:pt x="0" y="7112000"/>
                  </a:lnTo>
                  <a:lnTo>
                    <a:pt x="0" y="0"/>
                  </a:lnTo>
                  <a:close/>
                </a:path>
              </a:pathLst>
            </a:custGeom>
            <a:blipFill>
              <a:blip r:embed="rId3"/>
              <a:stretch>
                <a:fillRect l="0" t="0" r="0" b="0"/>
              </a:stretch>
            </a:blipFill>
          </p:spPr>
        </p:sp>
      </p:grpSp>
      <p:sp>
        <p:nvSpPr>
          <p:cNvPr name="TextBox 5" id="5"/>
          <p:cNvSpPr txBox="true"/>
          <p:nvPr/>
        </p:nvSpPr>
        <p:spPr>
          <a:xfrm rot="0">
            <a:off x="1092203" y="7229637"/>
            <a:ext cx="9171308" cy="1044578"/>
          </a:xfrm>
          <a:prstGeom prst="rect">
            <a:avLst/>
          </a:prstGeom>
        </p:spPr>
        <p:txBody>
          <a:bodyPr anchor="t" rtlCol="false" tIns="0" lIns="0" bIns="0" rIns="0">
            <a:spAutoFit/>
          </a:bodyPr>
          <a:lstStyle/>
          <a:p>
            <a:pPr algn="l">
              <a:lnSpc>
                <a:spcPts val="2590"/>
              </a:lnSpc>
            </a:pPr>
            <a:r>
              <a:rPr lang="en-US" sz="1875">
                <a:solidFill>
                  <a:srgbClr val="474238"/>
                </a:solidFill>
                <a:latin typeface="Arimo"/>
                <a:ea typeface="Arimo"/>
                <a:cs typeface="Arimo"/>
                <a:sym typeface="Arimo"/>
              </a:rPr>
              <a:t>Memory at the 8M model's shape: a Transformer's KV cache grows with context, BDH's state σ stays at 28.3 MB, and they are equal at 6,144 bytes. Ours, research/compare_memory.py.</a:t>
            </a:r>
          </a:p>
        </p:txBody>
      </p:sp>
      <p:sp>
        <p:nvSpPr>
          <p:cNvPr name="TextBox 6" id="6"/>
          <p:cNvSpPr txBox="true"/>
          <p:nvPr/>
        </p:nvSpPr>
        <p:spPr>
          <a:xfrm rot="0">
            <a:off x="11112503" y="1727997"/>
            <a:ext cx="6278756" cy="1102619"/>
          </a:xfrm>
          <a:prstGeom prst="rect">
            <a:avLst/>
          </a:prstGeom>
        </p:spPr>
        <p:txBody>
          <a:bodyPr anchor="t" rtlCol="false" tIns="0" lIns="0" bIns="0" rIns="0">
            <a:spAutoFit/>
          </a:bodyPr>
          <a:lstStyle/>
          <a:p>
            <a:pPr algn="l">
              <a:lnSpc>
                <a:spcPts val="2972"/>
              </a:lnSpc>
            </a:pPr>
            <a:r>
              <a:rPr lang="en-US" sz="2025">
                <a:solidFill>
                  <a:srgbClr val="201E1D"/>
                </a:solidFill>
                <a:latin typeface="Arimo"/>
                <a:ea typeface="Arimo"/>
                <a:cs typeface="Arimo"/>
                <a:sym typeface="Arimo"/>
              </a:rPr>
              <a:t>Each demonstration is a rank-one write to a fixed-size state: σₜ = σₜ₋₁ + rope(K)ₜ ⊗ Vₜ. The official bdh.py agrees with this form to 2.8 × 10⁻¹⁴.</a:t>
            </a:r>
          </a:p>
        </p:txBody>
      </p:sp>
      <p:sp>
        <p:nvSpPr>
          <p:cNvPr name="TextBox 7" id="7"/>
          <p:cNvSpPr txBox="true"/>
          <p:nvPr/>
        </p:nvSpPr>
        <p:spPr>
          <a:xfrm rot="0">
            <a:off x="11112503" y="3098168"/>
            <a:ext cx="6278756" cy="1102619"/>
          </a:xfrm>
          <a:prstGeom prst="rect">
            <a:avLst/>
          </a:prstGeom>
        </p:spPr>
        <p:txBody>
          <a:bodyPr anchor="t" rtlCol="false" tIns="0" lIns="0" bIns="0" rIns="0">
            <a:spAutoFit/>
          </a:bodyPr>
          <a:lstStyle/>
          <a:p>
            <a:pPr algn="l">
              <a:lnSpc>
                <a:spcPts val="2972"/>
              </a:lnSpc>
            </a:pPr>
            <a:r>
              <a:rPr lang="en-US" sz="2025">
                <a:solidFill>
                  <a:srgbClr val="201E1D"/>
                </a:solidFill>
                <a:latin typeface="Arimo"/>
                <a:ea typeface="Arimo"/>
                <a:cs typeface="Arimo"/>
                <a:sym typeface="Arimo"/>
              </a:rPr>
              <a:t>Only one of BDH's unusual choices buys the fixed state: </a:t>
            </a:r>
            <a:r>
              <a:rPr lang="en-US" sz="2025" b="true">
                <a:solidFill>
                  <a:srgbClr val="201E1D"/>
                </a:solidFill>
                <a:latin typeface="Arimo Bold"/>
                <a:ea typeface="Arimo Bold"/>
                <a:cs typeface="Arimo Bold"/>
                <a:sym typeface="Arimo Bold"/>
              </a:rPr>
              <a:t>dropping softmax </a:t>
            </a:r>
            <a:r>
              <a:rPr lang="en-US" sz="2025">
                <a:solidFill>
                  <a:srgbClr val="201E1D"/>
                </a:solidFill>
                <a:latin typeface="Arimo"/>
                <a:ea typeface="Arimo"/>
                <a:cs typeface="Arimo"/>
                <a:sym typeface="Arimo"/>
              </a:rPr>
              <a:t>. Put softmax back and the error is 1.1 × 10²; Q ≠ K or no ReLU leave it at 10⁻⁵. </a:t>
            </a:r>
          </a:p>
        </p:txBody>
      </p:sp>
      <p:sp>
        <p:nvSpPr>
          <p:cNvPr name="TextBox 8" id="8"/>
          <p:cNvSpPr txBox="true"/>
          <p:nvPr/>
        </p:nvSpPr>
        <p:spPr>
          <a:xfrm rot="0">
            <a:off x="11112503" y="4841243"/>
            <a:ext cx="6278756" cy="1163164"/>
          </a:xfrm>
          <a:prstGeom prst="rect">
            <a:avLst/>
          </a:prstGeom>
        </p:spPr>
        <p:txBody>
          <a:bodyPr anchor="t" rtlCol="false" tIns="0" lIns="0" bIns="0" rIns="0">
            <a:spAutoFit/>
          </a:bodyPr>
          <a:lstStyle/>
          <a:p>
            <a:pPr algn="l">
              <a:lnSpc>
                <a:spcPts val="2972"/>
              </a:lnSpc>
            </a:pPr>
            <a:r>
              <a:rPr lang="en-US" sz="2025">
                <a:solidFill>
                  <a:srgbClr val="201E1D"/>
                </a:solidFill>
                <a:latin typeface="Arimo"/>
                <a:ea typeface="Arimo"/>
                <a:cs typeface="Arimo"/>
                <a:sym typeface="Arimo"/>
              </a:rPr>
              <a:t>The claim's second half: capacity depends on how much keys overlap, so the non-negativity that makes BDH readable also makes it forget sooner.</a:t>
            </a:r>
          </a:p>
        </p:txBody>
      </p:sp>
      <p:grpSp>
        <p:nvGrpSpPr>
          <p:cNvPr name="Group 9" id="9"/>
          <p:cNvGrpSpPr/>
          <p:nvPr/>
        </p:nvGrpSpPr>
        <p:grpSpPr>
          <a:xfrm rot="0">
            <a:off x="11967324" y="9456420"/>
            <a:ext cx="5253876" cy="506730"/>
            <a:chOff x="0" y="0"/>
            <a:chExt cx="7005168" cy="675640"/>
          </a:xfrm>
        </p:grpSpPr>
        <p:sp>
          <p:nvSpPr>
            <p:cNvPr name="Freeform 10" id="10"/>
            <p:cNvSpPr/>
            <p:nvPr/>
          </p:nvSpPr>
          <p:spPr>
            <a:xfrm flipH="false" flipV="false" rot="0">
              <a:off x="0" y="0"/>
              <a:ext cx="7005193" cy="675640"/>
            </a:xfrm>
            <a:custGeom>
              <a:avLst/>
              <a:gdLst/>
              <a:ahLst/>
              <a:cxnLst/>
              <a:rect r="r" b="b" t="t" l="l"/>
              <a:pathLst>
                <a:path h="675640" w="7005193">
                  <a:moveTo>
                    <a:pt x="0" y="337820"/>
                  </a:moveTo>
                  <a:cubicBezTo>
                    <a:pt x="0" y="151257"/>
                    <a:pt x="151257" y="0"/>
                    <a:pt x="337820" y="0"/>
                  </a:cubicBezTo>
                  <a:lnTo>
                    <a:pt x="6667373" y="0"/>
                  </a:lnTo>
                  <a:cubicBezTo>
                    <a:pt x="6853936" y="0"/>
                    <a:pt x="7005193" y="151257"/>
                    <a:pt x="7005193" y="337820"/>
                  </a:cubicBezTo>
                  <a:cubicBezTo>
                    <a:pt x="7005193" y="524383"/>
                    <a:pt x="6853936" y="675640"/>
                    <a:pt x="6667373" y="675640"/>
                  </a:cubicBezTo>
                  <a:lnTo>
                    <a:pt x="337820" y="675640"/>
                  </a:lnTo>
                  <a:cubicBezTo>
                    <a:pt x="151257" y="675640"/>
                    <a:pt x="0" y="524383"/>
                    <a:pt x="0" y="337820"/>
                  </a:cubicBezTo>
                  <a:close/>
                </a:path>
              </a:pathLst>
            </a:custGeom>
            <a:solidFill>
              <a:srgbClr val="EBDDC5"/>
            </a:solidFill>
          </p:spPr>
        </p:sp>
      </p:grpSp>
      <p:grpSp>
        <p:nvGrpSpPr>
          <p:cNvPr name="Group 11" id="11"/>
          <p:cNvGrpSpPr/>
          <p:nvPr/>
        </p:nvGrpSpPr>
        <p:grpSpPr>
          <a:xfrm rot="0">
            <a:off x="11967324" y="9456420"/>
            <a:ext cx="5253876" cy="506730"/>
            <a:chOff x="0" y="0"/>
            <a:chExt cx="7005168" cy="675640"/>
          </a:xfrm>
        </p:grpSpPr>
        <p:sp>
          <p:nvSpPr>
            <p:cNvPr name="Freeform 12" id="12" descr="preencoded.png"/>
            <p:cNvSpPr/>
            <p:nvPr/>
          </p:nvSpPr>
          <p:spPr>
            <a:xfrm flipH="false" flipV="false" rot="0">
              <a:off x="0" y="0"/>
              <a:ext cx="7005193" cy="675640"/>
            </a:xfrm>
            <a:custGeom>
              <a:avLst/>
              <a:gdLst/>
              <a:ahLst/>
              <a:cxnLst/>
              <a:rect r="r" b="b" t="t" l="l"/>
              <a:pathLst>
                <a:path h="675640" w="7005193">
                  <a:moveTo>
                    <a:pt x="0" y="0"/>
                  </a:moveTo>
                  <a:lnTo>
                    <a:pt x="7005193" y="0"/>
                  </a:lnTo>
                  <a:lnTo>
                    <a:pt x="7005193" y="675640"/>
                  </a:lnTo>
                  <a:lnTo>
                    <a:pt x="0" y="675640"/>
                  </a:lnTo>
                  <a:lnTo>
                    <a:pt x="0" y="0"/>
                  </a:lnTo>
                  <a:close/>
                </a:path>
              </a:pathLst>
            </a:custGeom>
            <a:blipFill>
              <a:blip r:embed="rId4"/>
              <a:stretch>
                <a:fillRect l="-180" t="0" r="-180" b="0"/>
              </a:stretch>
            </a:blipFill>
          </p:spPr>
        </p:sp>
      </p:gr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EAD8"/>
        </a:solidFill>
      </p:bgPr>
    </p:bg>
    <p:spTree>
      <p:nvGrpSpPr>
        <p:cNvPr id="1" name=""/>
        <p:cNvGrpSpPr/>
        <p:nvPr/>
      </p:nvGrpSpPr>
      <p:grpSpPr>
        <a:xfrm>
          <a:off x="0" y="0"/>
          <a:ext cx="0" cy="0"/>
          <a:chOff x="0" y="0"/>
          <a:chExt cx="0" cy="0"/>
        </a:xfrm>
      </p:grpSpPr>
      <p:sp>
        <p:nvSpPr>
          <p:cNvPr name="TextBox 2" id="2"/>
          <p:cNvSpPr txBox="true"/>
          <p:nvPr/>
        </p:nvSpPr>
        <p:spPr>
          <a:xfrm rot="0">
            <a:off x="1092203" y="844553"/>
            <a:ext cx="15253973" cy="1178881"/>
          </a:xfrm>
          <a:prstGeom prst="rect">
            <a:avLst/>
          </a:prstGeom>
        </p:spPr>
        <p:txBody>
          <a:bodyPr anchor="t" rtlCol="false" tIns="0" lIns="0" bIns="0" rIns="0">
            <a:spAutoFit/>
          </a:bodyPr>
          <a:lstStyle/>
          <a:p>
            <a:pPr algn="l">
              <a:lnSpc>
                <a:spcPts val="4856"/>
              </a:lnSpc>
            </a:pPr>
            <a:r>
              <a:rPr lang="en-US" sz="4050">
                <a:solidFill>
                  <a:srgbClr val="201E1D"/>
                </a:solidFill>
                <a:latin typeface="Arimo"/>
                <a:ea typeface="Arimo"/>
                <a:cs typeface="Arimo"/>
                <a:sym typeface="Arimo"/>
              </a:rPr>
              <a:t>Non-negative keys overlap at 1/π, and that caps what the state can hold.</a:t>
            </a:r>
          </a:p>
        </p:txBody>
      </p:sp>
      <p:grpSp>
        <p:nvGrpSpPr>
          <p:cNvPr name="Group 3" id="3"/>
          <p:cNvGrpSpPr/>
          <p:nvPr/>
        </p:nvGrpSpPr>
        <p:grpSpPr>
          <a:xfrm rot="0">
            <a:off x="1066800" y="2346008"/>
            <a:ext cx="9516789" cy="5715000"/>
            <a:chOff x="0" y="0"/>
            <a:chExt cx="12689053" cy="7620000"/>
          </a:xfrm>
        </p:grpSpPr>
        <p:sp>
          <p:nvSpPr>
            <p:cNvPr name="Freeform 4" id="4" descr="preencoded.png"/>
            <p:cNvSpPr/>
            <p:nvPr/>
          </p:nvSpPr>
          <p:spPr>
            <a:xfrm flipH="false" flipV="false" rot="0">
              <a:off x="0" y="0"/>
              <a:ext cx="12689078" cy="7620000"/>
            </a:xfrm>
            <a:custGeom>
              <a:avLst/>
              <a:gdLst/>
              <a:ahLst/>
              <a:cxnLst/>
              <a:rect r="r" b="b" t="t" l="l"/>
              <a:pathLst>
                <a:path h="7620000" w="12689078">
                  <a:moveTo>
                    <a:pt x="0" y="0"/>
                  </a:moveTo>
                  <a:lnTo>
                    <a:pt x="12689078" y="0"/>
                  </a:lnTo>
                  <a:lnTo>
                    <a:pt x="12689078" y="7620000"/>
                  </a:lnTo>
                  <a:lnTo>
                    <a:pt x="0" y="7620000"/>
                  </a:lnTo>
                  <a:lnTo>
                    <a:pt x="0" y="0"/>
                  </a:lnTo>
                  <a:close/>
                </a:path>
              </a:pathLst>
            </a:custGeom>
            <a:blipFill>
              <a:blip r:embed="rId3"/>
              <a:stretch>
                <a:fillRect l="0" t="0" r="0" b="0"/>
              </a:stretch>
            </a:blipFill>
          </p:spPr>
        </p:sp>
      </p:grpSp>
      <p:sp>
        <p:nvSpPr>
          <p:cNvPr name="TextBox 5" id="5"/>
          <p:cNvSpPr txBox="true"/>
          <p:nvPr/>
        </p:nvSpPr>
        <p:spPr>
          <a:xfrm rot="0">
            <a:off x="1092203" y="8196901"/>
            <a:ext cx="11329673" cy="711203"/>
          </a:xfrm>
          <a:prstGeom prst="rect">
            <a:avLst/>
          </a:prstGeom>
        </p:spPr>
        <p:txBody>
          <a:bodyPr anchor="t" rtlCol="false" tIns="0" lIns="0" bIns="0" rIns="0">
            <a:spAutoFit/>
          </a:bodyPr>
          <a:lstStyle/>
          <a:p>
            <a:pPr algn="l">
              <a:lnSpc>
                <a:spcPts val="2590"/>
              </a:lnSpc>
            </a:pPr>
            <a:r>
              <a:rPr lang="en-US" sz="1875">
                <a:solidFill>
                  <a:srgbClr val="474238"/>
                </a:solidFill>
                <a:latin typeface="Arimo"/>
                <a:ea typeface="Arimo"/>
                <a:cs typeface="Arimo"/>
                <a:sym typeface="Arimo"/>
              </a:rPr>
              <a:t>Bindings written into one fixed 256 × 64 state and read back. The two lines differ only in the ReLU on the keys. Ours, research/sigma_capacity.py.</a:t>
            </a:r>
          </a:p>
        </p:txBody>
      </p:sp>
      <p:sp>
        <p:nvSpPr>
          <p:cNvPr name="TextBox 6" id="6"/>
          <p:cNvSpPr txBox="true"/>
          <p:nvPr/>
        </p:nvSpPr>
        <p:spPr>
          <a:xfrm rot="0">
            <a:off x="12827003" y="2361886"/>
            <a:ext cx="4810763" cy="316868"/>
          </a:xfrm>
          <a:prstGeom prst="rect">
            <a:avLst/>
          </a:prstGeom>
        </p:spPr>
        <p:txBody>
          <a:bodyPr anchor="t" rtlCol="false" tIns="0" lIns="0" bIns="0" rIns="0">
            <a:spAutoFit/>
          </a:bodyPr>
          <a:lstStyle/>
          <a:p>
            <a:pPr algn="l">
              <a:lnSpc>
                <a:spcPts val="2637"/>
              </a:lnSpc>
            </a:pPr>
            <a:r>
              <a:rPr lang="en-US" sz="2250" spc="-33">
                <a:solidFill>
                  <a:srgbClr val="201E1D"/>
                </a:solidFill>
                <a:latin typeface="Arimo"/>
                <a:ea typeface="Arimo"/>
                <a:cs typeface="Arimo"/>
                <a:sym typeface="Arimo"/>
              </a:rPr>
              <a:t>Reading the figure</a:t>
            </a:r>
          </a:p>
        </p:txBody>
      </p:sp>
      <p:sp>
        <p:nvSpPr>
          <p:cNvPr name="TextBox 7" id="7"/>
          <p:cNvSpPr txBox="true"/>
          <p:nvPr/>
        </p:nvSpPr>
        <p:spPr>
          <a:xfrm rot="0">
            <a:off x="13208003" y="2885761"/>
            <a:ext cx="4120391" cy="1474094"/>
          </a:xfrm>
          <a:prstGeom prst="rect">
            <a:avLst/>
          </a:prstGeom>
        </p:spPr>
        <p:txBody>
          <a:bodyPr anchor="t" rtlCol="false" tIns="0" lIns="0" bIns="0" rIns="0">
            <a:spAutoFit/>
          </a:bodyPr>
          <a:lstStyle/>
          <a:p>
            <a:pPr algn="l">
              <a:lnSpc>
                <a:spcPts val="2972"/>
              </a:lnSpc>
            </a:pPr>
            <a:r>
              <a:rPr lang="en-US" sz="2025">
                <a:solidFill>
                  <a:srgbClr val="201E1D"/>
                </a:solidFill>
                <a:latin typeface="Arimo"/>
                <a:ea typeface="Arimo"/>
                <a:cs typeface="Arimo"/>
                <a:sym typeface="Arimo"/>
              </a:rPr>
              <a:t>The two lines differ only in a ReLU on the keys: non-negative keys hold </a:t>
            </a:r>
            <a:r>
              <a:rPr lang="en-US" sz="2025" b="true">
                <a:solidFill>
                  <a:srgbClr val="201E1D"/>
                </a:solidFill>
                <a:latin typeface="Arimo Bold"/>
                <a:ea typeface="Arimo Bold"/>
                <a:cs typeface="Arimo Bold"/>
                <a:sym typeface="Arimo Bold"/>
              </a:rPr>
              <a:t>48% </a:t>
            </a:r>
            <a:r>
              <a:rPr lang="en-US" sz="2025">
                <a:solidFill>
                  <a:srgbClr val="201E1D"/>
                </a:solidFill>
                <a:latin typeface="Arimo"/>
                <a:ea typeface="Arimo"/>
                <a:cs typeface="Arimo"/>
                <a:sym typeface="Arimo"/>
              </a:rPr>
              <a:t>recall at 128 bindings, signed keys hold </a:t>
            </a:r>
            <a:r>
              <a:rPr lang="en-US" sz="2025" b="true">
                <a:solidFill>
                  <a:srgbClr val="201E1D"/>
                </a:solidFill>
                <a:latin typeface="Arimo Bold"/>
                <a:ea typeface="Arimo Bold"/>
                <a:cs typeface="Arimo Bold"/>
                <a:sym typeface="Arimo Bold"/>
              </a:rPr>
              <a:t>100% </a:t>
            </a:r>
            <a:r>
              <a:rPr lang="en-US" sz="2025">
                <a:solidFill>
                  <a:srgbClr val="201E1D"/>
                </a:solidFill>
                <a:latin typeface="Arimo"/>
                <a:ea typeface="Arimo"/>
                <a:cs typeface="Arimo"/>
                <a:sym typeface="Arimo"/>
              </a:rPr>
              <a:t>to 256.</a:t>
            </a:r>
          </a:p>
        </p:txBody>
      </p:sp>
      <p:sp>
        <p:nvSpPr>
          <p:cNvPr name="TextBox 8" id="8"/>
          <p:cNvSpPr txBox="true"/>
          <p:nvPr/>
        </p:nvSpPr>
        <p:spPr>
          <a:xfrm rot="0">
            <a:off x="13208003" y="5001739"/>
            <a:ext cx="4120391" cy="1102619"/>
          </a:xfrm>
          <a:prstGeom prst="rect">
            <a:avLst/>
          </a:prstGeom>
        </p:spPr>
        <p:txBody>
          <a:bodyPr anchor="t" rtlCol="false" tIns="0" lIns="0" bIns="0" rIns="0">
            <a:spAutoFit/>
          </a:bodyPr>
          <a:lstStyle/>
          <a:p>
            <a:pPr algn="l">
              <a:lnSpc>
                <a:spcPts val="2972"/>
              </a:lnSpc>
            </a:pPr>
            <a:r>
              <a:rPr lang="en-US" sz="2025">
                <a:solidFill>
                  <a:srgbClr val="201E1D"/>
                </a:solidFill>
                <a:latin typeface="Arimo"/>
                <a:ea typeface="Arimo"/>
                <a:cs typeface="Arimo"/>
                <a:sym typeface="Arimo"/>
              </a:rPr>
              <a:t>Their mean overlap is </a:t>
            </a:r>
            <a:r>
              <a:rPr lang="en-US" sz="2025" b="true">
                <a:solidFill>
                  <a:srgbClr val="201E1D"/>
                </a:solidFill>
                <a:latin typeface="Arimo Bold"/>
                <a:ea typeface="Arimo Bold"/>
                <a:cs typeface="Arimo Bold"/>
                <a:sym typeface="Arimo Bold"/>
              </a:rPr>
              <a:t>+0.32 </a:t>
            </a:r>
            <a:r>
              <a:rPr lang="en-US" sz="2025">
                <a:solidFill>
                  <a:srgbClr val="201E1D"/>
                </a:solidFill>
                <a:latin typeface="Arimo"/>
                <a:ea typeface="Arimo"/>
                <a:cs typeface="Arimo"/>
                <a:sym typeface="Arimo"/>
              </a:rPr>
              <a:t>, which is 1/π , the rate at which readability costs memory.</a:t>
            </a:r>
          </a:p>
        </p:txBody>
      </p:sp>
      <p:sp>
        <p:nvSpPr>
          <p:cNvPr name="TextBox 9" id="9"/>
          <p:cNvSpPr txBox="true"/>
          <p:nvPr/>
        </p:nvSpPr>
        <p:spPr>
          <a:xfrm rot="0">
            <a:off x="13208003" y="6371911"/>
            <a:ext cx="4120391" cy="1102619"/>
          </a:xfrm>
          <a:prstGeom prst="rect">
            <a:avLst/>
          </a:prstGeom>
        </p:spPr>
        <p:txBody>
          <a:bodyPr anchor="t" rtlCol="false" tIns="0" lIns="0" bIns="0" rIns="0">
            <a:spAutoFit/>
          </a:bodyPr>
          <a:lstStyle/>
          <a:p>
            <a:pPr algn="l">
              <a:lnSpc>
                <a:spcPts val="2972"/>
              </a:lnSpc>
            </a:pPr>
            <a:r>
              <a:rPr lang="en-US" sz="2025">
                <a:solidFill>
                  <a:srgbClr val="201E1D"/>
                </a:solidFill>
                <a:latin typeface="Arimo"/>
                <a:ea typeface="Arimo"/>
                <a:cs typeface="Arimo"/>
                <a:sym typeface="Arimo"/>
              </a:rPr>
              <a:t>The control behind the G* result: a shuffled null scores about </a:t>
            </a:r>
            <a:r>
              <a:rPr lang="en-US" sz="2025" b="true">
                <a:solidFill>
                  <a:srgbClr val="201E1D"/>
                </a:solidFill>
                <a:latin typeface="Arimo Bold"/>
                <a:ea typeface="Arimo Bold"/>
                <a:cs typeface="Arimo Bold"/>
                <a:sym typeface="Arimo Bold"/>
              </a:rPr>
              <a:t>0 </a:t>
            </a:r>
            <a:r>
              <a:rPr lang="en-US" sz="2025">
                <a:solidFill>
                  <a:srgbClr val="201E1D"/>
                </a:solidFill>
                <a:latin typeface="Arimo"/>
                <a:ea typeface="Arimo"/>
                <a:cs typeface="Arimo"/>
                <a:sym typeface="Arimo"/>
              </a:rPr>
              <a:t>against G*'s +0.94.</a:t>
            </a:r>
          </a:p>
        </p:txBody>
      </p:sp>
      <p:grpSp>
        <p:nvGrpSpPr>
          <p:cNvPr name="Group 10" id="10"/>
          <p:cNvGrpSpPr/>
          <p:nvPr/>
        </p:nvGrpSpPr>
        <p:grpSpPr>
          <a:xfrm rot="0">
            <a:off x="11967324" y="9456420"/>
            <a:ext cx="5253876" cy="506730"/>
            <a:chOff x="0" y="0"/>
            <a:chExt cx="7005168" cy="675640"/>
          </a:xfrm>
        </p:grpSpPr>
        <p:sp>
          <p:nvSpPr>
            <p:cNvPr name="Freeform 11" id="11"/>
            <p:cNvSpPr/>
            <p:nvPr/>
          </p:nvSpPr>
          <p:spPr>
            <a:xfrm flipH="false" flipV="false" rot="0">
              <a:off x="0" y="0"/>
              <a:ext cx="7005193" cy="675640"/>
            </a:xfrm>
            <a:custGeom>
              <a:avLst/>
              <a:gdLst/>
              <a:ahLst/>
              <a:cxnLst/>
              <a:rect r="r" b="b" t="t" l="l"/>
              <a:pathLst>
                <a:path h="675640" w="7005193">
                  <a:moveTo>
                    <a:pt x="0" y="337820"/>
                  </a:moveTo>
                  <a:cubicBezTo>
                    <a:pt x="0" y="151257"/>
                    <a:pt x="151257" y="0"/>
                    <a:pt x="337820" y="0"/>
                  </a:cubicBezTo>
                  <a:lnTo>
                    <a:pt x="6667373" y="0"/>
                  </a:lnTo>
                  <a:cubicBezTo>
                    <a:pt x="6853936" y="0"/>
                    <a:pt x="7005193" y="151257"/>
                    <a:pt x="7005193" y="337820"/>
                  </a:cubicBezTo>
                  <a:cubicBezTo>
                    <a:pt x="7005193" y="524383"/>
                    <a:pt x="6853936" y="675640"/>
                    <a:pt x="6667373" y="675640"/>
                  </a:cubicBezTo>
                  <a:lnTo>
                    <a:pt x="337820" y="675640"/>
                  </a:lnTo>
                  <a:cubicBezTo>
                    <a:pt x="151257" y="675640"/>
                    <a:pt x="0" y="524383"/>
                    <a:pt x="0" y="337820"/>
                  </a:cubicBezTo>
                  <a:close/>
                </a:path>
              </a:pathLst>
            </a:custGeom>
            <a:solidFill>
              <a:srgbClr val="EBDDC5"/>
            </a:solidFill>
          </p:spPr>
        </p:sp>
      </p:grpSp>
      <p:grpSp>
        <p:nvGrpSpPr>
          <p:cNvPr name="Group 12" id="12"/>
          <p:cNvGrpSpPr/>
          <p:nvPr/>
        </p:nvGrpSpPr>
        <p:grpSpPr>
          <a:xfrm rot="0">
            <a:off x="11967324" y="9456420"/>
            <a:ext cx="5253876" cy="506730"/>
            <a:chOff x="0" y="0"/>
            <a:chExt cx="7005168" cy="675640"/>
          </a:xfrm>
        </p:grpSpPr>
        <p:sp>
          <p:nvSpPr>
            <p:cNvPr name="Freeform 13" id="13" descr="preencoded.png"/>
            <p:cNvSpPr/>
            <p:nvPr/>
          </p:nvSpPr>
          <p:spPr>
            <a:xfrm flipH="false" flipV="false" rot="0">
              <a:off x="0" y="0"/>
              <a:ext cx="7005193" cy="675640"/>
            </a:xfrm>
            <a:custGeom>
              <a:avLst/>
              <a:gdLst/>
              <a:ahLst/>
              <a:cxnLst/>
              <a:rect r="r" b="b" t="t" l="l"/>
              <a:pathLst>
                <a:path h="675640" w="7005193">
                  <a:moveTo>
                    <a:pt x="0" y="0"/>
                  </a:moveTo>
                  <a:lnTo>
                    <a:pt x="7005193" y="0"/>
                  </a:lnTo>
                  <a:lnTo>
                    <a:pt x="7005193" y="675640"/>
                  </a:lnTo>
                  <a:lnTo>
                    <a:pt x="0" y="675640"/>
                  </a:lnTo>
                  <a:lnTo>
                    <a:pt x="0" y="0"/>
                  </a:lnTo>
                  <a:close/>
                </a:path>
              </a:pathLst>
            </a:custGeom>
            <a:blipFill>
              <a:blip r:embed="rId4"/>
              <a:stretch>
                <a:fillRect l="-180" t="0" r="-180" b="0"/>
              </a:stretch>
            </a:blipFill>
          </p:spPr>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EAD8"/>
        </a:solidFill>
      </p:bgPr>
    </p:bg>
    <p:spTree>
      <p:nvGrpSpPr>
        <p:cNvPr id="1" name=""/>
        <p:cNvGrpSpPr/>
        <p:nvPr/>
      </p:nvGrpSpPr>
      <p:grpSpPr>
        <a:xfrm>
          <a:off x="0" y="0"/>
          <a:ext cx="0" cy="0"/>
          <a:chOff x="0" y="0"/>
          <a:chExt cx="0" cy="0"/>
        </a:xfrm>
      </p:grpSpPr>
      <p:sp>
        <p:nvSpPr>
          <p:cNvPr name="TextBox 2" id="2"/>
          <p:cNvSpPr txBox="true"/>
          <p:nvPr/>
        </p:nvSpPr>
        <p:spPr>
          <a:xfrm rot="0">
            <a:off x="1092203" y="1366523"/>
            <a:ext cx="16294103" cy="592617"/>
          </a:xfrm>
          <a:prstGeom prst="rect">
            <a:avLst/>
          </a:prstGeom>
        </p:spPr>
        <p:txBody>
          <a:bodyPr anchor="t" rtlCol="false" tIns="0" lIns="0" bIns="0" rIns="0">
            <a:spAutoFit/>
          </a:bodyPr>
          <a:lstStyle/>
          <a:p>
            <a:pPr algn="l">
              <a:lnSpc>
                <a:spcPts val="4856"/>
              </a:lnSpc>
            </a:pPr>
            <a:r>
              <a:rPr lang="en-US" sz="4050">
                <a:solidFill>
                  <a:srgbClr val="201E1D"/>
                </a:solidFill>
                <a:latin typeface="Arimo"/>
                <a:ea typeface="Arimo"/>
                <a:cs typeface="Arimo"/>
                <a:sym typeface="Arimo"/>
              </a:rPr>
              <a:t>Where BDH sits.</a:t>
            </a:r>
          </a:p>
        </p:txBody>
      </p:sp>
      <p:grpSp>
        <p:nvGrpSpPr>
          <p:cNvPr name="Group 3" id="3"/>
          <p:cNvGrpSpPr/>
          <p:nvPr/>
        </p:nvGrpSpPr>
        <p:grpSpPr>
          <a:xfrm rot="0">
            <a:off x="1066800" y="3276124"/>
            <a:ext cx="3387442" cy="9525"/>
            <a:chOff x="0" y="0"/>
            <a:chExt cx="4516590" cy="12700"/>
          </a:xfrm>
        </p:grpSpPr>
        <p:sp>
          <p:nvSpPr>
            <p:cNvPr name="Freeform 4" id="4"/>
            <p:cNvSpPr/>
            <p:nvPr/>
          </p:nvSpPr>
          <p:spPr>
            <a:xfrm flipH="false" flipV="false" rot="0">
              <a:off x="0" y="0"/>
              <a:ext cx="4516628" cy="12700"/>
            </a:xfrm>
            <a:custGeom>
              <a:avLst/>
              <a:gdLst/>
              <a:ahLst/>
              <a:cxnLst/>
              <a:rect r="r" b="b" t="t" l="l"/>
              <a:pathLst>
                <a:path h="12700" w="4516628">
                  <a:moveTo>
                    <a:pt x="0" y="0"/>
                  </a:moveTo>
                  <a:lnTo>
                    <a:pt x="4516628" y="0"/>
                  </a:lnTo>
                  <a:lnTo>
                    <a:pt x="4516628" y="12700"/>
                  </a:lnTo>
                  <a:lnTo>
                    <a:pt x="0" y="12700"/>
                  </a:lnTo>
                  <a:close/>
                </a:path>
              </a:pathLst>
            </a:custGeom>
            <a:solidFill>
              <a:srgbClr val="1F1F1F">
                <a:alpha val="2353"/>
              </a:srgbClr>
            </a:solidFill>
          </p:spPr>
        </p:sp>
      </p:grpSp>
      <p:grpSp>
        <p:nvGrpSpPr>
          <p:cNvPr name="Group 5" id="5"/>
          <p:cNvGrpSpPr/>
          <p:nvPr/>
        </p:nvGrpSpPr>
        <p:grpSpPr>
          <a:xfrm rot="0">
            <a:off x="4454242" y="3276124"/>
            <a:ext cx="3775358" cy="9525"/>
            <a:chOff x="0" y="0"/>
            <a:chExt cx="5033810" cy="12700"/>
          </a:xfrm>
        </p:grpSpPr>
        <p:sp>
          <p:nvSpPr>
            <p:cNvPr name="Freeform 6" id="6"/>
            <p:cNvSpPr/>
            <p:nvPr/>
          </p:nvSpPr>
          <p:spPr>
            <a:xfrm flipH="false" flipV="false" rot="0">
              <a:off x="0" y="0"/>
              <a:ext cx="5033772" cy="12700"/>
            </a:xfrm>
            <a:custGeom>
              <a:avLst/>
              <a:gdLst/>
              <a:ahLst/>
              <a:cxnLst/>
              <a:rect r="r" b="b" t="t" l="l"/>
              <a:pathLst>
                <a:path h="12700" w="5033772">
                  <a:moveTo>
                    <a:pt x="0" y="0"/>
                  </a:moveTo>
                  <a:lnTo>
                    <a:pt x="5033772" y="0"/>
                  </a:lnTo>
                  <a:lnTo>
                    <a:pt x="5033772" y="12700"/>
                  </a:lnTo>
                  <a:lnTo>
                    <a:pt x="0" y="12700"/>
                  </a:lnTo>
                  <a:close/>
                </a:path>
              </a:pathLst>
            </a:custGeom>
            <a:solidFill>
              <a:srgbClr val="1F1F1F">
                <a:alpha val="2353"/>
              </a:srgbClr>
            </a:solidFill>
          </p:spPr>
        </p:sp>
      </p:grpSp>
      <p:sp>
        <p:nvSpPr>
          <p:cNvPr name="TextBox 7" id="7"/>
          <p:cNvSpPr txBox="true"/>
          <p:nvPr/>
        </p:nvSpPr>
        <p:spPr>
          <a:xfrm rot="0">
            <a:off x="4670146" y="2459517"/>
            <a:ext cx="3456813" cy="638813"/>
          </a:xfrm>
          <a:prstGeom prst="rect">
            <a:avLst/>
          </a:prstGeom>
        </p:spPr>
        <p:txBody>
          <a:bodyPr anchor="t" rtlCol="false" tIns="0" lIns="0" bIns="0" rIns="0">
            <a:spAutoFit/>
          </a:bodyPr>
          <a:lstStyle/>
          <a:p>
            <a:pPr algn="l">
              <a:lnSpc>
                <a:spcPts val="2364"/>
              </a:lnSpc>
            </a:pPr>
            <a:r>
              <a:rPr lang="en-US" b="true" sz="1800" spc="144">
                <a:solidFill>
                  <a:srgbClr val="201E1C">
                    <a:alpha val="60000"/>
                  </a:srgbClr>
                </a:solidFill>
                <a:latin typeface="Arimo Bold"/>
                <a:ea typeface="Arimo Bold"/>
                <a:cs typeface="Arimo Bold"/>
                <a:sym typeface="Arimo Bold"/>
              </a:rPr>
              <a:t>WHAT ADAPTS AT INFERENCE</a:t>
            </a:r>
          </a:p>
        </p:txBody>
      </p:sp>
      <p:grpSp>
        <p:nvGrpSpPr>
          <p:cNvPr name="Group 8" id="8"/>
          <p:cNvGrpSpPr/>
          <p:nvPr/>
        </p:nvGrpSpPr>
        <p:grpSpPr>
          <a:xfrm rot="0">
            <a:off x="8229600" y="3276124"/>
            <a:ext cx="2995974" cy="9525"/>
            <a:chOff x="0" y="0"/>
            <a:chExt cx="3994633" cy="12700"/>
          </a:xfrm>
        </p:grpSpPr>
        <p:sp>
          <p:nvSpPr>
            <p:cNvPr name="Freeform 9" id="9"/>
            <p:cNvSpPr/>
            <p:nvPr/>
          </p:nvSpPr>
          <p:spPr>
            <a:xfrm flipH="false" flipV="false" rot="0">
              <a:off x="0" y="0"/>
              <a:ext cx="3994658" cy="12700"/>
            </a:xfrm>
            <a:custGeom>
              <a:avLst/>
              <a:gdLst/>
              <a:ahLst/>
              <a:cxnLst/>
              <a:rect r="r" b="b" t="t" l="l"/>
              <a:pathLst>
                <a:path h="12700" w="3994658">
                  <a:moveTo>
                    <a:pt x="0" y="0"/>
                  </a:moveTo>
                  <a:lnTo>
                    <a:pt x="3994658" y="0"/>
                  </a:lnTo>
                  <a:lnTo>
                    <a:pt x="3994658" y="12700"/>
                  </a:lnTo>
                  <a:lnTo>
                    <a:pt x="0" y="12700"/>
                  </a:lnTo>
                  <a:close/>
                </a:path>
              </a:pathLst>
            </a:custGeom>
            <a:solidFill>
              <a:srgbClr val="1F1F1F">
                <a:alpha val="2353"/>
              </a:srgbClr>
            </a:solidFill>
          </p:spPr>
        </p:sp>
      </p:grpSp>
      <p:sp>
        <p:nvSpPr>
          <p:cNvPr name="TextBox 10" id="10"/>
          <p:cNvSpPr txBox="true"/>
          <p:nvPr/>
        </p:nvSpPr>
        <p:spPr>
          <a:xfrm rot="0">
            <a:off x="8445503" y="2459517"/>
            <a:ext cx="2654046" cy="638813"/>
          </a:xfrm>
          <a:prstGeom prst="rect">
            <a:avLst/>
          </a:prstGeom>
        </p:spPr>
        <p:txBody>
          <a:bodyPr anchor="t" rtlCol="false" tIns="0" lIns="0" bIns="0" rIns="0">
            <a:spAutoFit/>
          </a:bodyPr>
          <a:lstStyle/>
          <a:p>
            <a:pPr algn="l">
              <a:lnSpc>
                <a:spcPts val="2364"/>
              </a:lnSpc>
            </a:pPr>
            <a:r>
              <a:rPr lang="en-US" b="true" sz="1800" spc="144">
                <a:solidFill>
                  <a:srgbClr val="201E1C">
                    <a:alpha val="60000"/>
                  </a:srgbClr>
                </a:solidFill>
                <a:latin typeface="Arimo Bold"/>
                <a:ea typeface="Arimo Bold"/>
                <a:cs typeface="Arimo Bold"/>
                <a:sym typeface="Arimo Bold"/>
              </a:rPr>
              <a:t>MEMORY PER EXTRA TOKEN</a:t>
            </a:r>
          </a:p>
        </p:txBody>
      </p:sp>
      <p:grpSp>
        <p:nvGrpSpPr>
          <p:cNvPr name="Group 11" id="11"/>
          <p:cNvGrpSpPr/>
          <p:nvPr/>
        </p:nvGrpSpPr>
        <p:grpSpPr>
          <a:xfrm rot="0">
            <a:off x="11225565" y="3276124"/>
            <a:ext cx="3684984" cy="9525"/>
            <a:chOff x="0" y="0"/>
            <a:chExt cx="4913312" cy="12700"/>
          </a:xfrm>
        </p:grpSpPr>
        <p:sp>
          <p:nvSpPr>
            <p:cNvPr name="Freeform 12" id="12"/>
            <p:cNvSpPr/>
            <p:nvPr/>
          </p:nvSpPr>
          <p:spPr>
            <a:xfrm flipH="false" flipV="false" rot="0">
              <a:off x="0" y="0"/>
              <a:ext cx="4913249" cy="12700"/>
            </a:xfrm>
            <a:custGeom>
              <a:avLst/>
              <a:gdLst/>
              <a:ahLst/>
              <a:cxnLst/>
              <a:rect r="r" b="b" t="t" l="l"/>
              <a:pathLst>
                <a:path h="12700" w="4913249">
                  <a:moveTo>
                    <a:pt x="0" y="0"/>
                  </a:moveTo>
                  <a:lnTo>
                    <a:pt x="4913249" y="0"/>
                  </a:lnTo>
                  <a:lnTo>
                    <a:pt x="4913249" y="12700"/>
                  </a:lnTo>
                  <a:lnTo>
                    <a:pt x="0" y="12700"/>
                  </a:lnTo>
                  <a:close/>
                </a:path>
              </a:pathLst>
            </a:custGeom>
            <a:solidFill>
              <a:srgbClr val="1F1F1F">
                <a:alpha val="2353"/>
              </a:srgbClr>
            </a:solidFill>
          </p:spPr>
        </p:sp>
      </p:grpSp>
      <p:sp>
        <p:nvSpPr>
          <p:cNvPr name="TextBox 13" id="13"/>
          <p:cNvSpPr txBox="true"/>
          <p:nvPr/>
        </p:nvSpPr>
        <p:spPr>
          <a:xfrm rot="0">
            <a:off x="11441468" y="2459517"/>
            <a:ext cx="3363735" cy="638813"/>
          </a:xfrm>
          <a:prstGeom prst="rect">
            <a:avLst/>
          </a:prstGeom>
        </p:spPr>
        <p:txBody>
          <a:bodyPr anchor="t" rtlCol="false" tIns="0" lIns="0" bIns="0" rIns="0">
            <a:spAutoFit/>
          </a:bodyPr>
          <a:lstStyle/>
          <a:p>
            <a:pPr algn="l">
              <a:lnSpc>
                <a:spcPts val="2364"/>
              </a:lnSpc>
            </a:pPr>
            <a:r>
              <a:rPr lang="en-US" b="true" sz="1800" spc="144">
                <a:solidFill>
                  <a:srgbClr val="201E1C">
                    <a:alpha val="60000"/>
                  </a:srgbClr>
                </a:solidFill>
                <a:latin typeface="Arimo Bold"/>
                <a:ea typeface="Arimo Bold"/>
                <a:cs typeface="Arimo Bold"/>
                <a:sym typeface="Arimo Bold"/>
              </a:rPr>
              <a:t>WHAT YOU CAN INSPECT</a:t>
            </a:r>
          </a:p>
        </p:txBody>
      </p:sp>
      <p:grpSp>
        <p:nvGrpSpPr>
          <p:cNvPr name="Group 14" id="14"/>
          <p:cNvGrpSpPr/>
          <p:nvPr/>
        </p:nvGrpSpPr>
        <p:grpSpPr>
          <a:xfrm rot="0">
            <a:off x="14910549" y="3276124"/>
            <a:ext cx="2310651" cy="9525"/>
            <a:chOff x="0" y="0"/>
            <a:chExt cx="3080868" cy="12700"/>
          </a:xfrm>
        </p:grpSpPr>
        <p:sp>
          <p:nvSpPr>
            <p:cNvPr name="Freeform 15" id="15"/>
            <p:cNvSpPr/>
            <p:nvPr/>
          </p:nvSpPr>
          <p:spPr>
            <a:xfrm flipH="false" flipV="false" rot="0">
              <a:off x="0" y="0"/>
              <a:ext cx="3080893" cy="12700"/>
            </a:xfrm>
            <a:custGeom>
              <a:avLst/>
              <a:gdLst/>
              <a:ahLst/>
              <a:cxnLst/>
              <a:rect r="r" b="b" t="t" l="l"/>
              <a:pathLst>
                <a:path h="12700" w="3080893">
                  <a:moveTo>
                    <a:pt x="0" y="0"/>
                  </a:moveTo>
                  <a:lnTo>
                    <a:pt x="3080893" y="0"/>
                  </a:lnTo>
                  <a:lnTo>
                    <a:pt x="3080893" y="12700"/>
                  </a:lnTo>
                  <a:lnTo>
                    <a:pt x="0" y="12700"/>
                  </a:lnTo>
                  <a:close/>
                </a:path>
              </a:pathLst>
            </a:custGeom>
            <a:solidFill>
              <a:srgbClr val="1F1F1F">
                <a:alpha val="2353"/>
              </a:srgbClr>
            </a:solidFill>
          </p:spPr>
        </p:sp>
      </p:grpSp>
      <p:sp>
        <p:nvSpPr>
          <p:cNvPr name="TextBox 16" id="16"/>
          <p:cNvSpPr txBox="true"/>
          <p:nvPr/>
        </p:nvSpPr>
        <p:spPr>
          <a:xfrm rot="0">
            <a:off x="15126452" y="2459517"/>
            <a:ext cx="1955044" cy="638813"/>
          </a:xfrm>
          <a:prstGeom prst="rect">
            <a:avLst/>
          </a:prstGeom>
        </p:spPr>
        <p:txBody>
          <a:bodyPr anchor="t" rtlCol="false" tIns="0" lIns="0" bIns="0" rIns="0">
            <a:spAutoFit/>
          </a:bodyPr>
          <a:lstStyle/>
          <a:p>
            <a:pPr algn="l">
              <a:lnSpc>
                <a:spcPts val="2364"/>
              </a:lnSpc>
            </a:pPr>
            <a:r>
              <a:rPr lang="en-US" b="true" sz="1800" spc="144">
                <a:solidFill>
                  <a:srgbClr val="201E1C">
                    <a:alpha val="60000"/>
                  </a:srgbClr>
                </a:solidFill>
                <a:latin typeface="Arimo Bold"/>
                <a:ea typeface="Arimo Bold"/>
                <a:cs typeface="Arimo Bold"/>
                <a:sym typeface="Arimo Bold"/>
              </a:rPr>
              <a:t>CAN YOU RUN IT</a:t>
            </a:r>
          </a:p>
        </p:txBody>
      </p:sp>
      <p:grpSp>
        <p:nvGrpSpPr>
          <p:cNvPr name="Group 17" id="17"/>
          <p:cNvGrpSpPr/>
          <p:nvPr/>
        </p:nvGrpSpPr>
        <p:grpSpPr>
          <a:xfrm rot="0">
            <a:off x="1066800" y="4307681"/>
            <a:ext cx="3387442" cy="9525"/>
            <a:chOff x="0" y="0"/>
            <a:chExt cx="4516590" cy="12700"/>
          </a:xfrm>
        </p:grpSpPr>
        <p:sp>
          <p:nvSpPr>
            <p:cNvPr name="Freeform 18" id="18"/>
            <p:cNvSpPr/>
            <p:nvPr/>
          </p:nvSpPr>
          <p:spPr>
            <a:xfrm flipH="false" flipV="false" rot="0">
              <a:off x="0" y="0"/>
              <a:ext cx="4516628" cy="12700"/>
            </a:xfrm>
            <a:custGeom>
              <a:avLst/>
              <a:gdLst/>
              <a:ahLst/>
              <a:cxnLst/>
              <a:rect r="r" b="b" t="t" l="l"/>
              <a:pathLst>
                <a:path h="12700" w="4516628">
                  <a:moveTo>
                    <a:pt x="0" y="0"/>
                  </a:moveTo>
                  <a:lnTo>
                    <a:pt x="4516628" y="0"/>
                  </a:lnTo>
                  <a:lnTo>
                    <a:pt x="4516628" y="12700"/>
                  </a:lnTo>
                  <a:lnTo>
                    <a:pt x="0" y="12700"/>
                  </a:lnTo>
                  <a:close/>
                </a:path>
              </a:pathLst>
            </a:custGeom>
            <a:solidFill>
              <a:srgbClr val="1F1F1F">
                <a:alpha val="2353"/>
              </a:srgbClr>
            </a:solidFill>
          </p:spPr>
        </p:sp>
      </p:grpSp>
      <p:sp>
        <p:nvSpPr>
          <p:cNvPr name="TextBox 19" id="19"/>
          <p:cNvSpPr txBox="true"/>
          <p:nvPr/>
        </p:nvSpPr>
        <p:spPr>
          <a:xfrm rot="0">
            <a:off x="1092203" y="3461547"/>
            <a:ext cx="3247768" cy="668341"/>
          </a:xfrm>
          <a:prstGeom prst="rect">
            <a:avLst/>
          </a:prstGeom>
        </p:spPr>
        <p:txBody>
          <a:bodyPr anchor="t" rtlCol="false" tIns="0" lIns="0" bIns="0" rIns="0">
            <a:spAutoFit/>
          </a:bodyPr>
          <a:lstStyle/>
          <a:p>
            <a:pPr algn="l">
              <a:lnSpc>
                <a:spcPts val="2364"/>
              </a:lnSpc>
            </a:pPr>
            <a:r>
              <a:rPr lang="en-US" b="true" sz="1800" spc="144">
                <a:solidFill>
                  <a:srgbClr val="201E1C">
                    <a:alpha val="60000"/>
                  </a:srgbClr>
                </a:solidFill>
                <a:latin typeface="Arimo Bold"/>
                <a:ea typeface="Arimo Bold"/>
                <a:cs typeface="Arimo Bold"/>
                <a:sym typeface="Arimo Bold"/>
              </a:rPr>
              <a:t>TRANSFORMER (DECODER-ONLY)</a:t>
            </a:r>
          </a:p>
        </p:txBody>
      </p:sp>
      <p:grpSp>
        <p:nvGrpSpPr>
          <p:cNvPr name="Group 20" id="20"/>
          <p:cNvGrpSpPr/>
          <p:nvPr/>
        </p:nvGrpSpPr>
        <p:grpSpPr>
          <a:xfrm rot="0">
            <a:off x="4454242" y="4307681"/>
            <a:ext cx="3775358" cy="9525"/>
            <a:chOff x="0" y="0"/>
            <a:chExt cx="5033810" cy="12700"/>
          </a:xfrm>
        </p:grpSpPr>
        <p:sp>
          <p:nvSpPr>
            <p:cNvPr name="Freeform 21" id="21"/>
            <p:cNvSpPr/>
            <p:nvPr/>
          </p:nvSpPr>
          <p:spPr>
            <a:xfrm flipH="false" flipV="false" rot="0">
              <a:off x="0" y="0"/>
              <a:ext cx="5033772" cy="12700"/>
            </a:xfrm>
            <a:custGeom>
              <a:avLst/>
              <a:gdLst/>
              <a:ahLst/>
              <a:cxnLst/>
              <a:rect r="r" b="b" t="t" l="l"/>
              <a:pathLst>
                <a:path h="12700" w="5033772">
                  <a:moveTo>
                    <a:pt x="0" y="0"/>
                  </a:moveTo>
                  <a:lnTo>
                    <a:pt x="5033772" y="0"/>
                  </a:lnTo>
                  <a:lnTo>
                    <a:pt x="5033772" y="12700"/>
                  </a:lnTo>
                  <a:lnTo>
                    <a:pt x="0" y="12700"/>
                  </a:lnTo>
                  <a:close/>
                </a:path>
              </a:pathLst>
            </a:custGeom>
            <a:solidFill>
              <a:srgbClr val="261A1A">
                <a:alpha val="392"/>
              </a:srgbClr>
            </a:solidFill>
          </p:spPr>
        </p:sp>
      </p:grpSp>
      <p:sp>
        <p:nvSpPr>
          <p:cNvPr name="TextBox 22" id="22"/>
          <p:cNvSpPr txBox="true"/>
          <p:nvPr/>
        </p:nvSpPr>
        <p:spPr>
          <a:xfrm rot="0">
            <a:off x="4670146" y="3452022"/>
            <a:ext cx="3456813" cy="677866"/>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The context</a:t>
            </a:r>
          </a:p>
        </p:txBody>
      </p:sp>
      <p:grpSp>
        <p:nvGrpSpPr>
          <p:cNvPr name="Group 23" id="23"/>
          <p:cNvGrpSpPr/>
          <p:nvPr/>
        </p:nvGrpSpPr>
        <p:grpSpPr>
          <a:xfrm rot="0">
            <a:off x="8229600" y="4307681"/>
            <a:ext cx="2995974" cy="9525"/>
            <a:chOff x="0" y="0"/>
            <a:chExt cx="3994633" cy="12700"/>
          </a:xfrm>
        </p:grpSpPr>
        <p:sp>
          <p:nvSpPr>
            <p:cNvPr name="Freeform 24" id="24"/>
            <p:cNvSpPr/>
            <p:nvPr/>
          </p:nvSpPr>
          <p:spPr>
            <a:xfrm flipH="false" flipV="false" rot="0">
              <a:off x="0" y="0"/>
              <a:ext cx="3994658" cy="12700"/>
            </a:xfrm>
            <a:custGeom>
              <a:avLst/>
              <a:gdLst/>
              <a:ahLst/>
              <a:cxnLst/>
              <a:rect r="r" b="b" t="t" l="l"/>
              <a:pathLst>
                <a:path h="12700" w="3994658">
                  <a:moveTo>
                    <a:pt x="0" y="0"/>
                  </a:moveTo>
                  <a:lnTo>
                    <a:pt x="3994658" y="0"/>
                  </a:lnTo>
                  <a:lnTo>
                    <a:pt x="3994658" y="12700"/>
                  </a:lnTo>
                  <a:lnTo>
                    <a:pt x="0" y="12700"/>
                  </a:lnTo>
                  <a:close/>
                </a:path>
              </a:pathLst>
            </a:custGeom>
            <a:solidFill>
              <a:srgbClr val="261A1A">
                <a:alpha val="392"/>
              </a:srgbClr>
            </a:solidFill>
          </p:spPr>
        </p:sp>
      </p:grpSp>
      <p:sp>
        <p:nvSpPr>
          <p:cNvPr name="TextBox 25" id="25"/>
          <p:cNvSpPr txBox="true"/>
          <p:nvPr/>
        </p:nvSpPr>
        <p:spPr>
          <a:xfrm rot="0">
            <a:off x="8445503" y="3452022"/>
            <a:ext cx="2654046" cy="677866"/>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K and V per layer, growing</a:t>
            </a:r>
          </a:p>
        </p:txBody>
      </p:sp>
      <p:grpSp>
        <p:nvGrpSpPr>
          <p:cNvPr name="Group 26" id="26"/>
          <p:cNvGrpSpPr/>
          <p:nvPr/>
        </p:nvGrpSpPr>
        <p:grpSpPr>
          <a:xfrm rot="0">
            <a:off x="11225565" y="4307681"/>
            <a:ext cx="3684984" cy="9525"/>
            <a:chOff x="0" y="0"/>
            <a:chExt cx="4913312" cy="12700"/>
          </a:xfrm>
        </p:grpSpPr>
        <p:sp>
          <p:nvSpPr>
            <p:cNvPr name="Freeform 27" id="27"/>
            <p:cNvSpPr/>
            <p:nvPr/>
          </p:nvSpPr>
          <p:spPr>
            <a:xfrm flipH="false" flipV="false" rot="0">
              <a:off x="0" y="0"/>
              <a:ext cx="4913249" cy="12700"/>
            </a:xfrm>
            <a:custGeom>
              <a:avLst/>
              <a:gdLst/>
              <a:ahLst/>
              <a:cxnLst/>
              <a:rect r="r" b="b" t="t" l="l"/>
              <a:pathLst>
                <a:path h="12700" w="4913249">
                  <a:moveTo>
                    <a:pt x="0" y="0"/>
                  </a:moveTo>
                  <a:lnTo>
                    <a:pt x="4913249" y="0"/>
                  </a:lnTo>
                  <a:lnTo>
                    <a:pt x="4913249" y="12700"/>
                  </a:lnTo>
                  <a:lnTo>
                    <a:pt x="0" y="12700"/>
                  </a:lnTo>
                  <a:close/>
                </a:path>
              </a:pathLst>
            </a:custGeom>
            <a:solidFill>
              <a:srgbClr val="261A1A">
                <a:alpha val="392"/>
              </a:srgbClr>
            </a:solidFill>
          </p:spPr>
        </p:sp>
      </p:grpSp>
      <p:sp>
        <p:nvSpPr>
          <p:cNvPr name="TextBox 28" id="28"/>
          <p:cNvSpPr txBox="true"/>
          <p:nvPr/>
        </p:nvSpPr>
        <p:spPr>
          <a:xfrm rot="0">
            <a:off x="11441468" y="3452022"/>
            <a:ext cx="3363735" cy="677866"/>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Attention maps</a:t>
            </a:r>
          </a:p>
        </p:txBody>
      </p:sp>
      <p:grpSp>
        <p:nvGrpSpPr>
          <p:cNvPr name="Group 29" id="29"/>
          <p:cNvGrpSpPr/>
          <p:nvPr/>
        </p:nvGrpSpPr>
        <p:grpSpPr>
          <a:xfrm rot="0">
            <a:off x="14910549" y="4307681"/>
            <a:ext cx="2310651" cy="9525"/>
            <a:chOff x="0" y="0"/>
            <a:chExt cx="3080868" cy="12700"/>
          </a:xfrm>
        </p:grpSpPr>
        <p:sp>
          <p:nvSpPr>
            <p:cNvPr name="Freeform 30" id="30"/>
            <p:cNvSpPr/>
            <p:nvPr/>
          </p:nvSpPr>
          <p:spPr>
            <a:xfrm flipH="false" flipV="false" rot="0">
              <a:off x="0" y="0"/>
              <a:ext cx="3080893" cy="12700"/>
            </a:xfrm>
            <a:custGeom>
              <a:avLst/>
              <a:gdLst/>
              <a:ahLst/>
              <a:cxnLst/>
              <a:rect r="r" b="b" t="t" l="l"/>
              <a:pathLst>
                <a:path h="12700" w="3080893">
                  <a:moveTo>
                    <a:pt x="0" y="0"/>
                  </a:moveTo>
                  <a:lnTo>
                    <a:pt x="3080893" y="0"/>
                  </a:lnTo>
                  <a:lnTo>
                    <a:pt x="3080893" y="12700"/>
                  </a:lnTo>
                  <a:lnTo>
                    <a:pt x="0" y="12700"/>
                  </a:lnTo>
                  <a:close/>
                </a:path>
              </a:pathLst>
            </a:custGeom>
            <a:solidFill>
              <a:srgbClr val="261A1A">
                <a:alpha val="392"/>
              </a:srgbClr>
            </a:solidFill>
          </p:spPr>
        </p:sp>
      </p:grpSp>
      <p:sp>
        <p:nvSpPr>
          <p:cNvPr name="TextBox 31" id="31"/>
          <p:cNvSpPr txBox="true"/>
          <p:nvPr/>
        </p:nvSpPr>
        <p:spPr>
          <a:xfrm rot="0">
            <a:off x="15126452" y="3452022"/>
            <a:ext cx="1955044" cy="677866"/>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Yes</a:t>
            </a:r>
          </a:p>
        </p:txBody>
      </p:sp>
      <p:grpSp>
        <p:nvGrpSpPr>
          <p:cNvPr name="Group 32" id="32"/>
          <p:cNvGrpSpPr/>
          <p:nvPr/>
        </p:nvGrpSpPr>
        <p:grpSpPr>
          <a:xfrm rot="0">
            <a:off x="1066800" y="5339239"/>
            <a:ext cx="3387442" cy="9525"/>
            <a:chOff x="0" y="0"/>
            <a:chExt cx="4516590" cy="12700"/>
          </a:xfrm>
        </p:grpSpPr>
        <p:sp>
          <p:nvSpPr>
            <p:cNvPr name="Freeform 33" id="33"/>
            <p:cNvSpPr/>
            <p:nvPr/>
          </p:nvSpPr>
          <p:spPr>
            <a:xfrm flipH="false" flipV="false" rot="0">
              <a:off x="0" y="0"/>
              <a:ext cx="4516628" cy="12700"/>
            </a:xfrm>
            <a:custGeom>
              <a:avLst/>
              <a:gdLst/>
              <a:ahLst/>
              <a:cxnLst/>
              <a:rect r="r" b="b" t="t" l="l"/>
              <a:pathLst>
                <a:path h="12700" w="4516628">
                  <a:moveTo>
                    <a:pt x="0" y="0"/>
                  </a:moveTo>
                  <a:lnTo>
                    <a:pt x="4516628" y="0"/>
                  </a:lnTo>
                  <a:lnTo>
                    <a:pt x="4516628" y="12700"/>
                  </a:lnTo>
                  <a:lnTo>
                    <a:pt x="0" y="12700"/>
                  </a:lnTo>
                  <a:close/>
                </a:path>
              </a:pathLst>
            </a:custGeom>
            <a:solidFill>
              <a:srgbClr val="1F1F1F">
                <a:alpha val="2353"/>
              </a:srgbClr>
            </a:solidFill>
          </p:spPr>
        </p:sp>
      </p:grpSp>
      <p:sp>
        <p:nvSpPr>
          <p:cNvPr name="TextBox 34" id="34"/>
          <p:cNvSpPr txBox="true"/>
          <p:nvPr/>
        </p:nvSpPr>
        <p:spPr>
          <a:xfrm rot="0">
            <a:off x="1092203" y="4493104"/>
            <a:ext cx="3247768" cy="668341"/>
          </a:xfrm>
          <a:prstGeom prst="rect">
            <a:avLst/>
          </a:prstGeom>
        </p:spPr>
        <p:txBody>
          <a:bodyPr anchor="t" rtlCol="false" tIns="0" lIns="0" bIns="0" rIns="0">
            <a:spAutoFit/>
          </a:bodyPr>
          <a:lstStyle/>
          <a:p>
            <a:pPr algn="l">
              <a:lnSpc>
                <a:spcPts val="2364"/>
              </a:lnSpc>
            </a:pPr>
            <a:r>
              <a:rPr lang="en-US" b="true" sz="1800" spc="144">
                <a:solidFill>
                  <a:srgbClr val="201E1C">
                    <a:alpha val="60000"/>
                  </a:srgbClr>
                </a:solidFill>
                <a:latin typeface="Arimo Bold"/>
                <a:ea typeface="Arimo Bold"/>
                <a:cs typeface="Arimo Bold"/>
                <a:sym typeface="Arimo Bold"/>
              </a:rPr>
              <a:t>BDH (PUBLIC MIT CODE)</a:t>
            </a:r>
          </a:p>
        </p:txBody>
      </p:sp>
      <p:grpSp>
        <p:nvGrpSpPr>
          <p:cNvPr name="Group 35" id="35"/>
          <p:cNvGrpSpPr/>
          <p:nvPr/>
        </p:nvGrpSpPr>
        <p:grpSpPr>
          <a:xfrm rot="0">
            <a:off x="4454242" y="5339239"/>
            <a:ext cx="3775358" cy="9525"/>
            <a:chOff x="0" y="0"/>
            <a:chExt cx="5033810" cy="12700"/>
          </a:xfrm>
        </p:grpSpPr>
        <p:sp>
          <p:nvSpPr>
            <p:cNvPr name="Freeform 36" id="36"/>
            <p:cNvSpPr/>
            <p:nvPr/>
          </p:nvSpPr>
          <p:spPr>
            <a:xfrm flipH="false" flipV="false" rot="0">
              <a:off x="0" y="0"/>
              <a:ext cx="5033772" cy="12700"/>
            </a:xfrm>
            <a:custGeom>
              <a:avLst/>
              <a:gdLst/>
              <a:ahLst/>
              <a:cxnLst/>
              <a:rect r="r" b="b" t="t" l="l"/>
              <a:pathLst>
                <a:path h="12700" w="5033772">
                  <a:moveTo>
                    <a:pt x="0" y="0"/>
                  </a:moveTo>
                  <a:lnTo>
                    <a:pt x="5033772" y="0"/>
                  </a:lnTo>
                  <a:lnTo>
                    <a:pt x="5033772" y="12700"/>
                  </a:lnTo>
                  <a:lnTo>
                    <a:pt x="0" y="12700"/>
                  </a:lnTo>
                  <a:close/>
                </a:path>
              </a:pathLst>
            </a:custGeom>
            <a:solidFill>
              <a:srgbClr val="261A1A">
                <a:alpha val="392"/>
              </a:srgbClr>
            </a:solidFill>
          </p:spPr>
        </p:sp>
      </p:grpSp>
      <p:sp>
        <p:nvSpPr>
          <p:cNvPr name="TextBox 37" id="37"/>
          <p:cNvSpPr txBox="true"/>
          <p:nvPr/>
        </p:nvSpPr>
        <p:spPr>
          <a:xfrm rot="0">
            <a:off x="4670146" y="4483579"/>
            <a:ext cx="3456813" cy="677866"/>
          </a:xfrm>
          <a:prstGeom prst="rect">
            <a:avLst/>
          </a:prstGeom>
        </p:spPr>
        <p:txBody>
          <a:bodyPr anchor="t" rtlCol="false" tIns="0" lIns="0" bIns="0" rIns="0">
            <a:spAutoFit/>
          </a:bodyPr>
          <a:lstStyle/>
          <a:p>
            <a:pPr algn="l">
              <a:lnSpc>
                <a:spcPts val="2497"/>
              </a:lnSpc>
            </a:pPr>
            <a:r>
              <a:rPr lang="en-US" sz="1875" b="true">
                <a:solidFill>
                  <a:srgbClr val="201E1D"/>
                </a:solidFill>
                <a:latin typeface="Arimo Bold"/>
                <a:ea typeface="Arimo Bold"/>
                <a:cs typeface="Arimo Bold"/>
                <a:sym typeface="Arimo Bold"/>
              </a:rPr>
              <a:t>A fixed state σ, one rank-one write per token</a:t>
            </a:r>
          </a:p>
        </p:txBody>
      </p:sp>
      <p:grpSp>
        <p:nvGrpSpPr>
          <p:cNvPr name="Group 38" id="38"/>
          <p:cNvGrpSpPr/>
          <p:nvPr/>
        </p:nvGrpSpPr>
        <p:grpSpPr>
          <a:xfrm rot="0">
            <a:off x="8229600" y="5339239"/>
            <a:ext cx="2995974" cy="9525"/>
            <a:chOff x="0" y="0"/>
            <a:chExt cx="3994633" cy="12700"/>
          </a:xfrm>
        </p:grpSpPr>
        <p:sp>
          <p:nvSpPr>
            <p:cNvPr name="Freeform 39" id="39"/>
            <p:cNvSpPr/>
            <p:nvPr/>
          </p:nvSpPr>
          <p:spPr>
            <a:xfrm flipH="false" flipV="false" rot="0">
              <a:off x="0" y="0"/>
              <a:ext cx="3994658" cy="12700"/>
            </a:xfrm>
            <a:custGeom>
              <a:avLst/>
              <a:gdLst/>
              <a:ahLst/>
              <a:cxnLst/>
              <a:rect r="r" b="b" t="t" l="l"/>
              <a:pathLst>
                <a:path h="12700" w="3994658">
                  <a:moveTo>
                    <a:pt x="0" y="0"/>
                  </a:moveTo>
                  <a:lnTo>
                    <a:pt x="3994658" y="0"/>
                  </a:lnTo>
                  <a:lnTo>
                    <a:pt x="3994658" y="12700"/>
                  </a:lnTo>
                  <a:lnTo>
                    <a:pt x="0" y="12700"/>
                  </a:lnTo>
                  <a:close/>
                </a:path>
              </a:pathLst>
            </a:custGeom>
            <a:solidFill>
              <a:srgbClr val="261A1A">
                <a:alpha val="392"/>
              </a:srgbClr>
            </a:solidFill>
          </p:spPr>
        </p:sp>
      </p:grpSp>
      <p:sp>
        <p:nvSpPr>
          <p:cNvPr name="TextBox 40" id="40"/>
          <p:cNvSpPr txBox="true"/>
          <p:nvPr/>
        </p:nvSpPr>
        <p:spPr>
          <a:xfrm rot="0">
            <a:off x="8445503" y="4483579"/>
            <a:ext cx="2654046" cy="677866"/>
          </a:xfrm>
          <a:prstGeom prst="rect">
            <a:avLst/>
          </a:prstGeom>
        </p:spPr>
        <p:txBody>
          <a:bodyPr anchor="t" rtlCol="false" tIns="0" lIns="0" bIns="0" rIns="0">
            <a:spAutoFit/>
          </a:bodyPr>
          <a:lstStyle/>
          <a:p>
            <a:pPr algn="l">
              <a:lnSpc>
                <a:spcPts val="2497"/>
              </a:lnSpc>
            </a:pPr>
            <a:r>
              <a:rPr lang="en-US" sz="1875" b="true">
                <a:solidFill>
                  <a:srgbClr val="201E1D"/>
                </a:solidFill>
                <a:latin typeface="Arimo Bold"/>
                <a:ea typeface="Arimo Bold"/>
                <a:cs typeface="Arimo Bold"/>
                <a:sym typeface="Arimo Bold"/>
              </a:rPr>
              <a:t>Constant</a:t>
            </a:r>
          </a:p>
        </p:txBody>
      </p:sp>
      <p:grpSp>
        <p:nvGrpSpPr>
          <p:cNvPr name="Group 41" id="41"/>
          <p:cNvGrpSpPr/>
          <p:nvPr/>
        </p:nvGrpSpPr>
        <p:grpSpPr>
          <a:xfrm rot="0">
            <a:off x="11225565" y="5339239"/>
            <a:ext cx="3684984" cy="9525"/>
            <a:chOff x="0" y="0"/>
            <a:chExt cx="4913312" cy="12700"/>
          </a:xfrm>
        </p:grpSpPr>
        <p:sp>
          <p:nvSpPr>
            <p:cNvPr name="Freeform 42" id="42"/>
            <p:cNvSpPr/>
            <p:nvPr/>
          </p:nvSpPr>
          <p:spPr>
            <a:xfrm flipH="false" flipV="false" rot="0">
              <a:off x="0" y="0"/>
              <a:ext cx="4913249" cy="12700"/>
            </a:xfrm>
            <a:custGeom>
              <a:avLst/>
              <a:gdLst/>
              <a:ahLst/>
              <a:cxnLst/>
              <a:rect r="r" b="b" t="t" l="l"/>
              <a:pathLst>
                <a:path h="12700" w="4913249">
                  <a:moveTo>
                    <a:pt x="0" y="0"/>
                  </a:moveTo>
                  <a:lnTo>
                    <a:pt x="4913249" y="0"/>
                  </a:lnTo>
                  <a:lnTo>
                    <a:pt x="4913249" y="12700"/>
                  </a:lnTo>
                  <a:lnTo>
                    <a:pt x="0" y="12700"/>
                  </a:lnTo>
                  <a:close/>
                </a:path>
              </a:pathLst>
            </a:custGeom>
            <a:solidFill>
              <a:srgbClr val="261A1A">
                <a:alpha val="392"/>
              </a:srgbClr>
            </a:solidFill>
          </p:spPr>
        </p:sp>
      </p:grpSp>
      <p:sp>
        <p:nvSpPr>
          <p:cNvPr name="TextBox 43" id="43"/>
          <p:cNvSpPr txBox="true"/>
          <p:nvPr/>
        </p:nvSpPr>
        <p:spPr>
          <a:xfrm rot="0">
            <a:off x="11441468" y="4483579"/>
            <a:ext cx="3363735" cy="677866"/>
          </a:xfrm>
          <a:prstGeom prst="rect">
            <a:avLst/>
          </a:prstGeom>
        </p:spPr>
        <p:txBody>
          <a:bodyPr anchor="t" rtlCol="false" tIns="0" lIns="0" bIns="0" rIns="0">
            <a:spAutoFit/>
          </a:bodyPr>
          <a:lstStyle/>
          <a:p>
            <a:pPr algn="l">
              <a:lnSpc>
                <a:spcPts val="2497"/>
              </a:lnSpc>
            </a:pPr>
            <a:r>
              <a:rPr lang="en-US" sz="1875" b="true">
                <a:solidFill>
                  <a:srgbClr val="201E1D"/>
                </a:solidFill>
                <a:latin typeface="Arimo Bold"/>
                <a:ea typeface="Arimo Bold"/>
                <a:cs typeface="Arimo Bold"/>
                <a:sym typeface="Arimo Bold"/>
              </a:rPr>
              <a:t>Sparse activations and the synapse graph G*</a:t>
            </a:r>
          </a:p>
        </p:txBody>
      </p:sp>
      <p:grpSp>
        <p:nvGrpSpPr>
          <p:cNvPr name="Group 44" id="44"/>
          <p:cNvGrpSpPr/>
          <p:nvPr/>
        </p:nvGrpSpPr>
        <p:grpSpPr>
          <a:xfrm rot="0">
            <a:off x="14910549" y="5339239"/>
            <a:ext cx="2310651" cy="9525"/>
            <a:chOff x="0" y="0"/>
            <a:chExt cx="3080868" cy="12700"/>
          </a:xfrm>
        </p:grpSpPr>
        <p:sp>
          <p:nvSpPr>
            <p:cNvPr name="Freeform 45" id="45"/>
            <p:cNvSpPr/>
            <p:nvPr/>
          </p:nvSpPr>
          <p:spPr>
            <a:xfrm flipH="false" flipV="false" rot="0">
              <a:off x="0" y="0"/>
              <a:ext cx="3080893" cy="12700"/>
            </a:xfrm>
            <a:custGeom>
              <a:avLst/>
              <a:gdLst/>
              <a:ahLst/>
              <a:cxnLst/>
              <a:rect r="r" b="b" t="t" l="l"/>
              <a:pathLst>
                <a:path h="12700" w="3080893">
                  <a:moveTo>
                    <a:pt x="0" y="0"/>
                  </a:moveTo>
                  <a:lnTo>
                    <a:pt x="3080893" y="0"/>
                  </a:lnTo>
                  <a:lnTo>
                    <a:pt x="3080893" y="12700"/>
                  </a:lnTo>
                  <a:lnTo>
                    <a:pt x="0" y="12700"/>
                  </a:lnTo>
                  <a:close/>
                </a:path>
              </a:pathLst>
            </a:custGeom>
            <a:solidFill>
              <a:srgbClr val="261A1A">
                <a:alpha val="392"/>
              </a:srgbClr>
            </a:solidFill>
          </p:spPr>
        </p:sp>
      </p:grpSp>
      <p:sp>
        <p:nvSpPr>
          <p:cNvPr name="TextBox 46" id="46"/>
          <p:cNvSpPr txBox="true"/>
          <p:nvPr/>
        </p:nvSpPr>
        <p:spPr>
          <a:xfrm rot="0">
            <a:off x="15126452" y="4483579"/>
            <a:ext cx="1955044" cy="677866"/>
          </a:xfrm>
          <a:prstGeom prst="rect">
            <a:avLst/>
          </a:prstGeom>
        </p:spPr>
        <p:txBody>
          <a:bodyPr anchor="t" rtlCol="false" tIns="0" lIns="0" bIns="0" rIns="0">
            <a:spAutoFit/>
          </a:bodyPr>
          <a:lstStyle/>
          <a:p>
            <a:pPr algn="l">
              <a:lnSpc>
                <a:spcPts val="2497"/>
              </a:lnSpc>
            </a:pPr>
            <a:r>
              <a:rPr lang="en-US" sz="1875" b="true">
                <a:solidFill>
                  <a:srgbClr val="201E1D"/>
                </a:solidFill>
                <a:latin typeface="Arimo Bold"/>
                <a:ea typeface="Arimo Bold"/>
                <a:cs typeface="Arimo Bold"/>
                <a:sym typeface="Arimo Bold"/>
              </a:rPr>
              <a:t>Yes: we trained and ran it</a:t>
            </a:r>
          </a:p>
        </p:txBody>
      </p:sp>
      <p:grpSp>
        <p:nvGrpSpPr>
          <p:cNvPr name="Group 47" id="47"/>
          <p:cNvGrpSpPr/>
          <p:nvPr/>
        </p:nvGrpSpPr>
        <p:grpSpPr>
          <a:xfrm rot="0">
            <a:off x="1066800" y="6428422"/>
            <a:ext cx="3387442" cy="9525"/>
            <a:chOff x="0" y="0"/>
            <a:chExt cx="4516590" cy="12700"/>
          </a:xfrm>
        </p:grpSpPr>
        <p:sp>
          <p:nvSpPr>
            <p:cNvPr name="Freeform 48" id="48"/>
            <p:cNvSpPr/>
            <p:nvPr/>
          </p:nvSpPr>
          <p:spPr>
            <a:xfrm flipH="false" flipV="false" rot="0">
              <a:off x="0" y="0"/>
              <a:ext cx="4516628" cy="12700"/>
            </a:xfrm>
            <a:custGeom>
              <a:avLst/>
              <a:gdLst/>
              <a:ahLst/>
              <a:cxnLst/>
              <a:rect r="r" b="b" t="t" l="l"/>
              <a:pathLst>
                <a:path h="12700" w="4516628">
                  <a:moveTo>
                    <a:pt x="0" y="0"/>
                  </a:moveTo>
                  <a:lnTo>
                    <a:pt x="4516628" y="0"/>
                  </a:lnTo>
                  <a:lnTo>
                    <a:pt x="4516628" y="12700"/>
                  </a:lnTo>
                  <a:lnTo>
                    <a:pt x="0" y="12700"/>
                  </a:lnTo>
                  <a:close/>
                </a:path>
              </a:pathLst>
            </a:custGeom>
            <a:solidFill>
              <a:srgbClr val="1F1F1F">
                <a:alpha val="2353"/>
              </a:srgbClr>
            </a:solidFill>
          </p:spPr>
        </p:sp>
      </p:grpSp>
      <p:sp>
        <p:nvSpPr>
          <p:cNvPr name="TextBox 49" id="49"/>
          <p:cNvSpPr txBox="true"/>
          <p:nvPr/>
        </p:nvSpPr>
        <p:spPr>
          <a:xfrm rot="0">
            <a:off x="1092203" y="5524662"/>
            <a:ext cx="3247768" cy="725967"/>
          </a:xfrm>
          <a:prstGeom prst="rect">
            <a:avLst/>
          </a:prstGeom>
        </p:spPr>
        <p:txBody>
          <a:bodyPr anchor="t" rtlCol="false" tIns="0" lIns="0" bIns="0" rIns="0">
            <a:spAutoFit/>
          </a:bodyPr>
          <a:lstStyle/>
          <a:p>
            <a:pPr algn="l">
              <a:lnSpc>
                <a:spcPts val="2364"/>
              </a:lnSpc>
            </a:pPr>
            <a:r>
              <a:rPr lang="en-US" b="true" sz="1800" spc="144">
                <a:solidFill>
                  <a:srgbClr val="201E1C">
                    <a:alpha val="60000"/>
                  </a:srgbClr>
                </a:solidFill>
                <a:latin typeface="Arimo Bold"/>
                <a:ea typeface="Arimo Bold"/>
                <a:cs typeface="Arimo Bold"/>
                <a:sym typeface="Arimo Bold"/>
              </a:rPr>
              <a:t>BDH-CQ</a:t>
            </a:r>
          </a:p>
        </p:txBody>
      </p:sp>
      <p:grpSp>
        <p:nvGrpSpPr>
          <p:cNvPr name="Group 50" id="50"/>
          <p:cNvGrpSpPr/>
          <p:nvPr/>
        </p:nvGrpSpPr>
        <p:grpSpPr>
          <a:xfrm rot="0">
            <a:off x="4454242" y="6428422"/>
            <a:ext cx="3775358" cy="9525"/>
            <a:chOff x="0" y="0"/>
            <a:chExt cx="5033810" cy="12700"/>
          </a:xfrm>
        </p:grpSpPr>
        <p:sp>
          <p:nvSpPr>
            <p:cNvPr name="Freeform 51" id="51"/>
            <p:cNvSpPr/>
            <p:nvPr/>
          </p:nvSpPr>
          <p:spPr>
            <a:xfrm flipH="false" flipV="false" rot="0">
              <a:off x="0" y="0"/>
              <a:ext cx="5033772" cy="12700"/>
            </a:xfrm>
            <a:custGeom>
              <a:avLst/>
              <a:gdLst/>
              <a:ahLst/>
              <a:cxnLst/>
              <a:rect r="r" b="b" t="t" l="l"/>
              <a:pathLst>
                <a:path h="12700" w="5033772">
                  <a:moveTo>
                    <a:pt x="0" y="0"/>
                  </a:moveTo>
                  <a:lnTo>
                    <a:pt x="5033772" y="0"/>
                  </a:lnTo>
                  <a:lnTo>
                    <a:pt x="5033772" y="12700"/>
                  </a:lnTo>
                  <a:lnTo>
                    <a:pt x="0" y="12700"/>
                  </a:lnTo>
                  <a:close/>
                </a:path>
              </a:pathLst>
            </a:custGeom>
            <a:solidFill>
              <a:srgbClr val="261A1A">
                <a:alpha val="392"/>
              </a:srgbClr>
            </a:solidFill>
          </p:spPr>
        </p:sp>
      </p:grpSp>
      <p:sp>
        <p:nvSpPr>
          <p:cNvPr name="TextBox 52" id="52"/>
          <p:cNvSpPr txBox="true"/>
          <p:nvPr/>
        </p:nvSpPr>
        <p:spPr>
          <a:xfrm rot="0">
            <a:off x="4670146" y="5515137"/>
            <a:ext cx="3456813" cy="735492"/>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A fixed state, general update U θ</a:t>
            </a:r>
          </a:p>
        </p:txBody>
      </p:sp>
      <p:grpSp>
        <p:nvGrpSpPr>
          <p:cNvPr name="Group 53" id="53"/>
          <p:cNvGrpSpPr/>
          <p:nvPr/>
        </p:nvGrpSpPr>
        <p:grpSpPr>
          <a:xfrm rot="0">
            <a:off x="8229600" y="6428422"/>
            <a:ext cx="2995974" cy="9525"/>
            <a:chOff x="0" y="0"/>
            <a:chExt cx="3994633" cy="12700"/>
          </a:xfrm>
        </p:grpSpPr>
        <p:sp>
          <p:nvSpPr>
            <p:cNvPr name="Freeform 54" id="54"/>
            <p:cNvSpPr/>
            <p:nvPr/>
          </p:nvSpPr>
          <p:spPr>
            <a:xfrm flipH="false" flipV="false" rot="0">
              <a:off x="0" y="0"/>
              <a:ext cx="3994658" cy="12700"/>
            </a:xfrm>
            <a:custGeom>
              <a:avLst/>
              <a:gdLst/>
              <a:ahLst/>
              <a:cxnLst/>
              <a:rect r="r" b="b" t="t" l="l"/>
              <a:pathLst>
                <a:path h="12700" w="3994658">
                  <a:moveTo>
                    <a:pt x="0" y="0"/>
                  </a:moveTo>
                  <a:lnTo>
                    <a:pt x="3994658" y="0"/>
                  </a:lnTo>
                  <a:lnTo>
                    <a:pt x="3994658" y="12700"/>
                  </a:lnTo>
                  <a:lnTo>
                    <a:pt x="0" y="12700"/>
                  </a:lnTo>
                  <a:close/>
                </a:path>
              </a:pathLst>
            </a:custGeom>
            <a:solidFill>
              <a:srgbClr val="261A1A">
                <a:alpha val="392"/>
              </a:srgbClr>
            </a:solidFill>
          </p:spPr>
        </p:sp>
      </p:grpSp>
      <p:sp>
        <p:nvSpPr>
          <p:cNvPr name="TextBox 55" id="55"/>
          <p:cNvSpPr txBox="true"/>
          <p:nvPr/>
        </p:nvSpPr>
        <p:spPr>
          <a:xfrm rot="0">
            <a:off x="8445503" y="5515137"/>
            <a:ext cx="2654046" cy="735492"/>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Constant, dimensions undisclosed</a:t>
            </a:r>
          </a:p>
        </p:txBody>
      </p:sp>
      <p:grpSp>
        <p:nvGrpSpPr>
          <p:cNvPr name="Group 56" id="56"/>
          <p:cNvGrpSpPr/>
          <p:nvPr/>
        </p:nvGrpSpPr>
        <p:grpSpPr>
          <a:xfrm rot="0">
            <a:off x="11225565" y="6428422"/>
            <a:ext cx="3684984" cy="9525"/>
            <a:chOff x="0" y="0"/>
            <a:chExt cx="4913312" cy="12700"/>
          </a:xfrm>
        </p:grpSpPr>
        <p:sp>
          <p:nvSpPr>
            <p:cNvPr name="Freeform 57" id="57"/>
            <p:cNvSpPr/>
            <p:nvPr/>
          </p:nvSpPr>
          <p:spPr>
            <a:xfrm flipH="false" flipV="false" rot="0">
              <a:off x="0" y="0"/>
              <a:ext cx="4913249" cy="12700"/>
            </a:xfrm>
            <a:custGeom>
              <a:avLst/>
              <a:gdLst/>
              <a:ahLst/>
              <a:cxnLst/>
              <a:rect r="r" b="b" t="t" l="l"/>
              <a:pathLst>
                <a:path h="12700" w="4913249">
                  <a:moveTo>
                    <a:pt x="0" y="0"/>
                  </a:moveTo>
                  <a:lnTo>
                    <a:pt x="4913249" y="0"/>
                  </a:lnTo>
                  <a:lnTo>
                    <a:pt x="4913249" y="12700"/>
                  </a:lnTo>
                  <a:lnTo>
                    <a:pt x="0" y="12700"/>
                  </a:lnTo>
                  <a:close/>
                </a:path>
              </a:pathLst>
            </a:custGeom>
            <a:solidFill>
              <a:srgbClr val="261A1A">
                <a:alpha val="392"/>
              </a:srgbClr>
            </a:solidFill>
          </p:spPr>
        </p:sp>
      </p:grpSp>
      <p:sp>
        <p:nvSpPr>
          <p:cNvPr name="TextBox 58" id="58"/>
          <p:cNvSpPr txBox="true"/>
          <p:nvPr/>
        </p:nvSpPr>
        <p:spPr>
          <a:xfrm rot="0">
            <a:off x="11441468" y="5515137"/>
            <a:ext cx="3363735" cy="735492"/>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Nothing published</a:t>
            </a:r>
          </a:p>
        </p:txBody>
      </p:sp>
      <p:grpSp>
        <p:nvGrpSpPr>
          <p:cNvPr name="Group 59" id="59"/>
          <p:cNvGrpSpPr/>
          <p:nvPr/>
        </p:nvGrpSpPr>
        <p:grpSpPr>
          <a:xfrm rot="0">
            <a:off x="14910549" y="6428422"/>
            <a:ext cx="2310651" cy="9525"/>
            <a:chOff x="0" y="0"/>
            <a:chExt cx="3080868" cy="12700"/>
          </a:xfrm>
        </p:grpSpPr>
        <p:sp>
          <p:nvSpPr>
            <p:cNvPr name="Freeform 60" id="60"/>
            <p:cNvSpPr/>
            <p:nvPr/>
          </p:nvSpPr>
          <p:spPr>
            <a:xfrm flipH="false" flipV="false" rot="0">
              <a:off x="0" y="0"/>
              <a:ext cx="3080893" cy="12700"/>
            </a:xfrm>
            <a:custGeom>
              <a:avLst/>
              <a:gdLst/>
              <a:ahLst/>
              <a:cxnLst/>
              <a:rect r="r" b="b" t="t" l="l"/>
              <a:pathLst>
                <a:path h="12700" w="3080893">
                  <a:moveTo>
                    <a:pt x="0" y="0"/>
                  </a:moveTo>
                  <a:lnTo>
                    <a:pt x="3080893" y="0"/>
                  </a:lnTo>
                  <a:lnTo>
                    <a:pt x="3080893" y="12700"/>
                  </a:lnTo>
                  <a:lnTo>
                    <a:pt x="0" y="12700"/>
                  </a:lnTo>
                  <a:close/>
                </a:path>
              </a:pathLst>
            </a:custGeom>
            <a:solidFill>
              <a:srgbClr val="261A1A">
                <a:alpha val="392"/>
              </a:srgbClr>
            </a:solidFill>
          </p:spPr>
        </p:sp>
      </p:grpSp>
      <p:sp>
        <p:nvSpPr>
          <p:cNvPr name="TextBox 61" id="61"/>
          <p:cNvSpPr txBox="true"/>
          <p:nvPr/>
        </p:nvSpPr>
        <p:spPr>
          <a:xfrm rot="0">
            <a:off x="15126452" y="5515137"/>
            <a:ext cx="1955044" cy="735492"/>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No public weights or API</a:t>
            </a:r>
          </a:p>
        </p:txBody>
      </p:sp>
      <p:grpSp>
        <p:nvGrpSpPr>
          <p:cNvPr name="Group 62" id="62"/>
          <p:cNvGrpSpPr/>
          <p:nvPr/>
        </p:nvGrpSpPr>
        <p:grpSpPr>
          <a:xfrm rot="0">
            <a:off x="1066800" y="7459980"/>
            <a:ext cx="3387442" cy="9525"/>
            <a:chOff x="0" y="0"/>
            <a:chExt cx="4516590" cy="12700"/>
          </a:xfrm>
        </p:grpSpPr>
        <p:sp>
          <p:nvSpPr>
            <p:cNvPr name="Freeform 63" id="63"/>
            <p:cNvSpPr/>
            <p:nvPr/>
          </p:nvSpPr>
          <p:spPr>
            <a:xfrm flipH="false" flipV="false" rot="0">
              <a:off x="0" y="0"/>
              <a:ext cx="4516628" cy="12700"/>
            </a:xfrm>
            <a:custGeom>
              <a:avLst/>
              <a:gdLst/>
              <a:ahLst/>
              <a:cxnLst/>
              <a:rect r="r" b="b" t="t" l="l"/>
              <a:pathLst>
                <a:path h="12700" w="4516628">
                  <a:moveTo>
                    <a:pt x="0" y="0"/>
                  </a:moveTo>
                  <a:lnTo>
                    <a:pt x="4516628" y="0"/>
                  </a:lnTo>
                  <a:lnTo>
                    <a:pt x="4516628" y="12700"/>
                  </a:lnTo>
                  <a:lnTo>
                    <a:pt x="0" y="12700"/>
                  </a:lnTo>
                  <a:close/>
                </a:path>
              </a:pathLst>
            </a:custGeom>
            <a:solidFill>
              <a:srgbClr val="1F1F1F">
                <a:alpha val="2353"/>
              </a:srgbClr>
            </a:solidFill>
          </p:spPr>
        </p:sp>
      </p:grpSp>
      <p:sp>
        <p:nvSpPr>
          <p:cNvPr name="TextBox 64" id="64"/>
          <p:cNvSpPr txBox="true"/>
          <p:nvPr/>
        </p:nvSpPr>
        <p:spPr>
          <a:xfrm rot="0">
            <a:off x="1092203" y="6613846"/>
            <a:ext cx="3247768" cy="668341"/>
          </a:xfrm>
          <a:prstGeom prst="rect">
            <a:avLst/>
          </a:prstGeom>
        </p:spPr>
        <p:txBody>
          <a:bodyPr anchor="t" rtlCol="false" tIns="0" lIns="0" bIns="0" rIns="0">
            <a:spAutoFit/>
          </a:bodyPr>
          <a:lstStyle/>
          <a:p>
            <a:pPr algn="l">
              <a:lnSpc>
                <a:spcPts val="2364"/>
              </a:lnSpc>
            </a:pPr>
            <a:r>
              <a:rPr lang="en-US" b="true" sz="1800" spc="144">
                <a:solidFill>
                  <a:srgbClr val="201E1C">
                    <a:alpha val="60000"/>
                  </a:srgbClr>
                </a:solidFill>
                <a:latin typeface="Arimo Bold"/>
                <a:ea typeface="Arimo Bold"/>
                <a:cs typeface="Arimo Bold"/>
                <a:sym typeface="Arimo Bold"/>
              </a:rPr>
              <a:t>HRM / TRM</a:t>
            </a:r>
          </a:p>
        </p:txBody>
      </p:sp>
      <p:grpSp>
        <p:nvGrpSpPr>
          <p:cNvPr name="Group 65" id="65"/>
          <p:cNvGrpSpPr/>
          <p:nvPr/>
        </p:nvGrpSpPr>
        <p:grpSpPr>
          <a:xfrm rot="0">
            <a:off x="4454242" y="7459980"/>
            <a:ext cx="3775358" cy="9525"/>
            <a:chOff x="0" y="0"/>
            <a:chExt cx="5033810" cy="12700"/>
          </a:xfrm>
        </p:grpSpPr>
        <p:sp>
          <p:nvSpPr>
            <p:cNvPr name="Freeform 66" id="66"/>
            <p:cNvSpPr/>
            <p:nvPr/>
          </p:nvSpPr>
          <p:spPr>
            <a:xfrm flipH="false" flipV="false" rot="0">
              <a:off x="0" y="0"/>
              <a:ext cx="5033772" cy="12700"/>
            </a:xfrm>
            <a:custGeom>
              <a:avLst/>
              <a:gdLst/>
              <a:ahLst/>
              <a:cxnLst/>
              <a:rect r="r" b="b" t="t" l="l"/>
              <a:pathLst>
                <a:path h="12700" w="5033772">
                  <a:moveTo>
                    <a:pt x="0" y="0"/>
                  </a:moveTo>
                  <a:lnTo>
                    <a:pt x="5033772" y="0"/>
                  </a:lnTo>
                  <a:lnTo>
                    <a:pt x="5033772" y="12700"/>
                  </a:lnTo>
                  <a:lnTo>
                    <a:pt x="0" y="12700"/>
                  </a:lnTo>
                  <a:close/>
                </a:path>
              </a:pathLst>
            </a:custGeom>
            <a:solidFill>
              <a:srgbClr val="261A1A">
                <a:alpha val="392"/>
              </a:srgbClr>
            </a:solidFill>
          </p:spPr>
        </p:sp>
      </p:grpSp>
      <p:sp>
        <p:nvSpPr>
          <p:cNvPr name="TextBox 67" id="67"/>
          <p:cNvSpPr txBox="true"/>
          <p:nvPr/>
        </p:nvSpPr>
        <p:spPr>
          <a:xfrm rot="0">
            <a:off x="4670146" y="6604321"/>
            <a:ext cx="3456813" cy="677866"/>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The weights, by a backward pass per task</a:t>
            </a:r>
          </a:p>
        </p:txBody>
      </p:sp>
      <p:grpSp>
        <p:nvGrpSpPr>
          <p:cNvPr name="Group 68" id="68"/>
          <p:cNvGrpSpPr/>
          <p:nvPr/>
        </p:nvGrpSpPr>
        <p:grpSpPr>
          <a:xfrm rot="0">
            <a:off x="8229600" y="7459980"/>
            <a:ext cx="2995974" cy="9525"/>
            <a:chOff x="0" y="0"/>
            <a:chExt cx="3994633" cy="12700"/>
          </a:xfrm>
        </p:grpSpPr>
        <p:sp>
          <p:nvSpPr>
            <p:cNvPr name="Freeform 69" id="69"/>
            <p:cNvSpPr/>
            <p:nvPr/>
          </p:nvSpPr>
          <p:spPr>
            <a:xfrm flipH="false" flipV="false" rot="0">
              <a:off x="0" y="0"/>
              <a:ext cx="3994658" cy="12700"/>
            </a:xfrm>
            <a:custGeom>
              <a:avLst/>
              <a:gdLst/>
              <a:ahLst/>
              <a:cxnLst/>
              <a:rect r="r" b="b" t="t" l="l"/>
              <a:pathLst>
                <a:path h="12700" w="3994658">
                  <a:moveTo>
                    <a:pt x="0" y="0"/>
                  </a:moveTo>
                  <a:lnTo>
                    <a:pt x="3994658" y="0"/>
                  </a:lnTo>
                  <a:lnTo>
                    <a:pt x="3994658" y="12700"/>
                  </a:lnTo>
                  <a:lnTo>
                    <a:pt x="0" y="12700"/>
                  </a:lnTo>
                  <a:close/>
                </a:path>
              </a:pathLst>
            </a:custGeom>
            <a:solidFill>
              <a:srgbClr val="261A1A">
                <a:alpha val="392"/>
              </a:srgbClr>
            </a:solidFill>
          </p:spPr>
        </p:sp>
      </p:grpSp>
      <p:sp>
        <p:nvSpPr>
          <p:cNvPr name="TextBox 70" id="70"/>
          <p:cNvSpPr txBox="true"/>
          <p:nvPr/>
        </p:nvSpPr>
        <p:spPr>
          <a:xfrm rot="0">
            <a:off x="8445503" y="6604321"/>
            <a:ext cx="2654046" cy="677866"/>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No context state of this kind</a:t>
            </a:r>
          </a:p>
        </p:txBody>
      </p:sp>
      <p:grpSp>
        <p:nvGrpSpPr>
          <p:cNvPr name="Group 71" id="71"/>
          <p:cNvGrpSpPr/>
          <p:nvPr/>
        </p:nvGrpSpPr>
        <p:grpSpPr>
          <a:xfrm rot="0">
            <a:off x="11225565" y="7459980"/>
            <a:ext cx="3684984" cy="9525"/>
            <a:chOff x="0" y="0"/>
            <a:chExt cx="4913312" cy="12700"/>
          </a:xfrm>
        </p:grpSpPr>
        <p:sp>
          <p:nvSpPr>
            <p:cNvPr name="Freeform 72" id="72"/>
            <p:cNvSpPr/>
            <p:nvPr/>
          </p:nvSpPr>
          <p:spPr>
            <a:xfrm flipH="false" flipV="false" rot="0">
              <a:off x="0" y="0"/>
              <a:ext cx="4913249" cy="12700"/>
            </a:xfrm>
            <a:custGeom>
              <a:avLst/>
              <a:gdLst/>
              <a:ahLst/>
              <a:cxnLst/>
              <a:rect r="r" b="b" t="t" l="l"/>
              <a:pathLst>
                <a:path h="12700" w="4913249">
                  <a:moveTo>
                    <a:pt x="0" y="0"/>
                  </a:moveTo>
                  <a:lnTo>
                    <a:pt x="4913249" y="0"/>
                  </a:lnTo>
                  <a:lnTo>
                    <a:pt x="4913249" y="12700"/>
                  </a:lnTo>
                  <a:lnTo>
                    <a:pt x="0" y="12700"/>
                  </a:lnTo>
                  <a:close/>
                </a:path>
              </a:pathLst>
            </a:custGeom>
            <a:solidFill>
              <a:srgbClr val="261A1A">
                <a:alpha val="392"/>
              </a:srgbClr>
            </a:solidFill>
          </p:spPr>
        </p:sp>
      </p:grpSp>
      <p:sp>
        <p:nvSpPr>
          <p:cNvPr name="TextBox 73" id="73"/>
          <p:cNvSpPr txBox="true"/>
          <p:nvPr/>
        </p:nvSpPr>
        <p:spPr>
          <a:xfrm rot="0">
            <a:off x="11441468" y="6604321"/>
            <a:ext cx="3363735" cy="677866"/>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Not compared</a:t>
            </a:r>
          </a:p>
        </p:txBody>
      </p:sp>
      <p:grpSp>
        <p:nvGrpSpPr>
          <p:cNvPr name="Group 74" id="74"/>
          <p:cNvGrpSpPr/>
          <p:nvPr/>
        </p:nvGrpSpPr>
        <p:grpSpPr>
          <a:xfrm rot="0">
            <a:off x="14910549" y="7459980"/>
            <a:ext cx="2310651" cy="9525"/>
            <a:chOff x="0" y="0"/>
            <a:chExt cx="3080868" cy="12700"/>
          </a:xfrm>
        </p:grpSpPr>
        <p:sp>
          <p:nvSpPr>
            <p:cNvPr name="Freeform 75" id="75"/>
            <p:cNvSpPr/>
            <p:nvPr/>
          </p:nvSpPr>
          <p:spPr>
            <a:xfrm flipH="false" flipV="false" rot="0">
              <a:off x="0" y="0"/>
              <a:ext cx="3080893" cy="12700"/>
            </a:xfrm>
            <a:custGeom>
              <a:avLst/>
              <a:gdLst/>
              <a:ahLst/>
              <a:cxnLst/>
              <a:rect r="r" b="b" t="t" l="l"/>
              <a:pathLst>
                <a:path h="12700" w="3080893">
                  <a:moveTo>
                    <a:pt x="0" y="0"/>
                  </a:moveTo>
                  <a:lnTo>
                    <a:pt x="3080893" y="0"/>
                  </a:lnTo>
                  <a:lnTo>
                    <a:pt x="3080893" y="12700"/>
                  </a:lnTo>
                  <a:lnTo>
                    <a:pt x="0" y="12700"/>
                  </a:lnTo>
                  <a:close/>
                </a:path>
              </a:pathLst>
            </a:custGeom>
            <a:solidFill>
              <a:srgbClr val="261A1A">
                <a:alpha val="392"/>
              </a:srgbClr>
            </a:solidFill>
          </p:spPr>
        </p:sp>
      </p:grpSp>
      <p:sp>
        <p:nvSpPr>
          <p:cNvPr name="TextBox 76" id="76"/>
          <p:cNvSpPr txBox="true"/>
          <p:nvPr/>
        </p:nvSpPr>
        <p:spPr>
          <a:xfrm rot="0">
            <a:off x="15126452" y="6604321"/>
            <a:ext cx="1955044" cy="677866"/>
          </a:xfrm>
          <a:prstGeom prst="rect">
            <a:avLst/>
          </a:prstGeom>
        </p:spPr>
        <p:txBody>
          <a:bodyPr anchor="t" rtlCol="false" tIns="0" lIns="0" bIns="0" rIns="0">
            <a:spAutoFit/>
          </a:bodyPr>
          <a:lstStyle/>
          <a:p>
            <a:pPr algn="l">
              <a:lnSpc>
                <a:spcPts val="2497"/>
              </a:lnSpc>
            </a:pPr>
            <a:r>
              <a:rPr lang="en-US" sz="1875">
                <a:solidFill>
                  <a:srgbClr val="201E1D"/>
                </a:solidFill>
                <a:latin typeface="Arimo"/>
                <a:ea typeface="Arimo"/>
                <a:cs typeface="Arimo"/>
                <a:sym typeface="Arimo"/>
              </a:rPr>
              <a:t>Cited only</a:t>
            </a:r>
          </a:p>
        </p:txBody>
      </p:sp>
      <p:grpSp>
        <p:nvGrpSpPr>
          <p:cNvPr name="Group 77" id="77"/>
          <p:cNvGrpSpPr/>
          <p:nvPr/>
        </p:nvGrpSpPr>
        <p:grpSpPr>
          <a:xfrm rot="0">
            <a:off x="11820287" y="9456420"/>
            <a:ext cx="5400913" cy="506730"/>
            <a:chOff x="0" y="0"/>
            <a:chExt cx="7201218" cy="675640"/>
          </a:xfrm>
        </p:grpSpPr>
        <p:sp>
          <p:nvSpPr>
            <p:cNvPr name="Freeform 78" id="78"/>
            <p:cNvSpPr/>
            <p:nvPr/>
          </p:nvSpPr>
          <p:spPr>
            <a:xfrm flipH="false" flipV="false" rot="0">
              <a:off x="0" y="0"/>
              <a:ext cx="7201153" cy="675640"/>
            </a:xfrm>
            <a:custGeom>
              <a:avLst/>
              <a:gdLst/>
              <a:ahLst/>
              <a:cxnLst/>
              <a:rect r="r" b="b" t="t" l="l"/>
              <a:pathLst>
                <a:path h="675640" w="7201153">
                  <a:moveTo>
                    <a:pt x="0" y="337820"/>
                  </a:moveTo>
                  <a:cubicBezTo>
                    <a:pt x="0" y="151257"/>
                    <a:pt x="151257" y="0"/>
                    <a:pt x="337820" y="0"/>
                  </a:cubicBezTo>
                  <a:lnTo>
                    <a:pt x="6863334" y="0"/>
                  </a:lnTo>
                  <a:cubicBezTo>
                    <a:pt x="7049897" y="0"/>
                    <a:pt x="7201153" y="151257"/>
                    <a:pt x="7201153" y="337820"/>
                  </a:cubicBezTo>
                  <a:cubicBezTo>
                    <a:pt x="7201153" y="524383"/>
                    <a:pt x="7049897" y="675640"/>
                    <a:pt x="6863334" y="675640"/>
                  </a:cubicBezTo>
                  <a:lnTo>
                    <a:pt x="337820" y="675640"/>
                  </a:lnTo>
                  <a:cubicBezTo>
                    <a:pt x="151257" y="675640"/>
                    <a:pt x="0" y="524383"/>
                    <a:pt x="0" y="337820"/>
                  </a:cubicBezTo>
                  <a:close/>
                </a:path>
              </a:pathLst>
            </a:custGeom>
            <a:solidFill>
              <a:srgbClr val="EBDDC5"/>
            </a:solidFill>
          </p:spPr>
        </p:sp>
      </p:grpSp>
      <p:grpSp>
        <p:nvGrpSpPr>
          <p:cNvPr name="Group 79" id="79"/>
          <p:cNvGrpSpPr/>
          <p:nvPr/>
        </p:nvGrpSpPr>
        <p:grpSpPr>
          <a:xfrm rot="0">
            <a:off x="11820287" y="9456420"/>
            <a:ext cx="5400913" cy="506730"/>
            <a:chOff x="0" y="0"/>
            <a:chExt cx="7201218" cy="675640"/>
          </a:xfrm>
        </p:grpSpPr>
        <p:sp>
          <p:nvSpPr>
            <p:cNvPr name="Freeform 80" id="80" descr="preencoded.png"/>
            <p:cNvSpPr/>
            <p:nvPr/>
          </p:nvSpPr>
          <p:spPr>
            <a:xfrm flipH="false" flipV="false" rot="0">
              <a:off x="0" y="0"/>
              <a:ext cx="7201154" cy="675640"/>
            </a:xfrm>
            <a:custGeom>
              <a:avLst/>
              <a:gdLst/>
              <a:ahLst/>
              <a:cxnLst/>
              <a:rect r="r" b="b" t="t" l="l"/>
              <a:pathLst>
                <a:path h="675640" w="7201154">
                  <a:moveTo>
                    <a:pt x="0" y="0"/>
                  </a:moveTo>
                  <a:lnTo>
                    <a:pt x="7201154" y="0"/>
                  </a:lnTo>
                  <a:lnTo>
                    <a:pt x="7201154" y="675640"/>
                  </a:lnTo>
                  <a:lnTo>
                    <a:pt x="0" y="675640"/>
                  </a:lnTo>
                  <a:lnTo>
                    <a:pt x="0" y="0"/>
                  </a:lnTo>
                  <a:close/>
                </a:path>
              </a:pathLst>
            </a:custGeom>
            <a:blipFill>
              <a:blip r:embed="rId3"/>
              <a:stretch>
                <a:fillRect l="-186" t="0" r="-187" b="0"/>
              </a:stretch>
            </a:blipFill>
          </p:spPr>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EAD8"/>
        </a:solidFill>
      </p:bgPr>
    </p:bg>
    <p:spTree>
      <p:nvGrpSpPr>
        <p:cNvPr id="1" name=""/>
        <p:cNvGrpSpPr/>
        <p:nvPr/>
      </p:nvGrpSpPr>
      <p:grpSpPr>
        <a:xfrm>
          <a:off x="0" y="0"/>
          <a:ext cx="0" cy="0"/>
          <a:chOff x="0" y="0"/>
          <a:chExt cx="0" cy="0"/>
        </a:xfrm>
      </p:grpSpPr>
      <p:sp>
        <p:nvSpPr>
          <p:cNvPr name="TextBox 2" id="2"/>
          <p:cNvSpPr txBox="true"/>
          <p:nvPr/>
        </p:nvSpPr>
        <p:spPr>
          <a:xfrm rot="0">
            <a:off x="1092203" y="844553"/>
            <a:ext cx="15253973" cy="1178881"/>
          </a:xfrm>
          <a:prstGeom prst="rect">
            <a:avLst/>
          </a:prstGeom>
        </p:spPr>
        <p:txBody>
          <a:bodyPr anchor="t" rtlCol="false" tIns="0" lIns="0" bIns="0" rIns="0">
            <a:spAutoFit/>
          </a:bodyPr>
          <a:lstStyle/>
          <a:p>
            <a:pPr algn="l">
              <a:lnSpc>
                <a:spcPts val="4856"/>
              </a:lnSpc>
            </a:pPr>
            <a:r>
              <a:rPr lang="en-US" sz="4050">
                <a:solidFill>
                  <a:srgbClr val="201E1D"/>
                </a:solidFill>
                <a:latin typeface="Arimo"/>
                <a:ea typeface="Arimo"/>
                <a:cs typeface="Arimo"/>
                <a:sym typeface="Arimo"/>
              </a:rPr>
              <a:t>Three pages: see the whole model, open one step, then test the claim.</a:t>
            </a:r>
          </a:p>
        </p:txBody>
      </p:sp>
      <p:grpSp>
        <p:nvGrpSpPr>
          <p:cNvPr name="Group 3" id="3"/>
          <p:cNvGrpSpPr/>
          <p:nvPr/>
        </p:nvGrpSpPr>
        <p:grpSpPr>
          <a:xfrm rot="0">
            <a:off x="1066800" y="2346008"/>
            <a:ext cx="5130765" cy="2885961"/>
            <a:chOff x="0" y="0"/>
            <a:chExt cx="6841020" cy="3847948"/>
          </a:xfrm>
        </p:grpSpPr>
        <p:sp>
          <p:nvSpPr>
            <p:cNvPr name="Freeform 4" id="4"/>
            <p:cNvSpPr/>
            <p:nvPr/>
          </p:nvSpPr>
          <p:spPr>
            <a:xfrm flipH="false" flipV="false" rot="0">
              <a:off x="0" y="0"/>
              <a:ext cx="6840982" cy="3847973"/>
            </a:xfrm>
            <a:custGeom>
              <a:avLst/>
              <a:gdLst/>
              <a:ahLst/>
              <a:cxnLst/>
              <a:rect r="r" b="b" t="t" l="l"/>
              <a:pathLst>
                <a:path h="3847973" w="6840982">
                  <a:moveTo>
                    <a:pt x="0" y="355600"/>
                  </a:moveTo>
                  <a:cubicBezTo>
                    <a:pt x="0" y="159258"/>
                    <a:pt x="159258" y="0"/>
                    <a:pt x="355600" y="0"/>
                  </a:cubicBezTo>
                  <a:lnTo>
                    <a:pt x="6485382" y="0"/>
                  </a:lnTo>
                  <a:cubicBezTo>
                    <a:pt x="6681724" y="0"/>
                    <a:pt x="6840982" y="159258"/>
                    <a:pt x="6840982" y="355600"/>
                  </a:cubicBezTo>
                  <a:lnTo>
                    <a:pt x="6840982" y="3492373"/>
                  </a:lnTo>
                  <a:cubicBezTo>
                    <a:pt x="6840982" y="3688715"/>
                    <a:pt x="6681724" y="3847973"/>
                    <a:pt x="6485382" y="3847973"/>
                  </a:cubicBezTo>
                  <a:lnTo>
                    <a:pt x="355600" y="3847973"/>
                  </a:lnTo>
                  <a:cubicBezTo>
                    <a:pt x="159258" y="3847973"/>
                    <a:pt x="0" y="3688715"/>
                    <a:pt x="0" y="3492373"/>
                  </a:cubicBezTo>
                  <a:close/>
                </a:path>
              </a:pathLst>
            </a:custGeom>
            <a:solidFill>
              <a:srgbClr val="0E0D0C"/>
            </a:solidFill>
          </p:spPr>
        </p:sp>
      </p:grpSp>
      <p:grpSp>
        <p:nvGrpSpPr>
          <p:cNvPr name="Group 5" id="5"/>
          <p:cNvGrpSpPr/>
          <p:nvPr/>
        </p:nvGrpSpPr>
        <p:grpSpPr>
          <a:xfrm rot="0">
            <a:off x="1066800" y="2346008"/>
            <a:ext cx="5130765" cy="2885961"/>
            <a:chOff x="0" y="0"/>
            <a:chExt cx="6841020" cy="3847948"/>
          </a:xfrm>
        </p:grpSpPr>
        <p:sp>
          <p:nvSpPr>
            <p:cNvPr name="Freeform 6" id="6" descr="preencoded.png"/>
            <p:cNvSpPr/>
            <p:nvPr/>
          </p:nvSpPr>
          <p:spPr>
            <a:xfrm flipH="false" flipV="false" rot="0">
              <a:off x="0" y="0"/>
              <a:ext cx="6840982" cy="3847973"/>
            </a:xfrm>
            <a:custGeom>
              <a:avLst/>
              <a:gdLst/>
              <a:ahLst/>
              <a:cxnLst/>
              <a:rect r="r" b="b" t="t" l="l"/>
              <a:pathLst>
                <a:path h="3847973" w="6840982">
                  <a:moveTo>
                    <a:pt x="0" y="0"/>
                  </a:moveTo>
                  <a:lnTo>
                    <a:pt x="6840982" y="0"/>
                  </a:lnTo>
                  <a:lnTo>
                    <a:pt x="6840982" y="3847973"/>
                  </a:lnTo>
                  <a:lnTo>
                    <a:pt x="0" y="3847973"/>
                  </a:lnTo>
                  <a:lnTo>
                    <a:pt x="0" y="0"/>
                  </a:lnTo>
                  <a:close/>
                </a:path>
              </a:pathLst>
            </a:custGeom>
            <a:blipFill>
              <a:blip r:embed="rId3"/>
              <a:stretch>
                <a:fillRect l="0" t="0" r="0" b="-2"/>
              </a:stretch>
            </a:blipFill>
          </p:spPr>
        </p:sp>
      </p:grpSp>
      <p:sp>
        <p:nvSpPr>
          <p:cNvPr name="TextBox 7" id="7"/>
          <p:cNvSpPr txBox="true"/>
          <p:nvPr/>
        </p:nvSpPr>
        <p:spPr>
          <a:xfrm rot="0">
            <a:off x="1092203" y="5367852"/>
            <a:ext cx="5233883" cy="1044578"/>
          </a:xfrm>
          <a:prstGeom prst="rect">
            <a:avLst/>
          </a:prstGeom>
        </p:spPr>
        <p:txBody>
          <a:bodyPr anchor="t" rtlCol="false" tIns="0" lIns="0" bIns="0" rIns="0">
            <a:spAutoFit/>
          </a:bodyPr>
          <a:lstStyle/>
          <a:p>
            <a:pPr algn="l">
              <a:lnSpc>
                <a:spcPts val="2590"/>
              </a:lnSpc>
            </a:pPr>
            <a:r>
              <a:rPr lang="en-US" sz="1875" b="true">
                <a:solidFill>
                  <a:srgbClr val="201E1D"/>
                </a:solidFill>
                <a:latin typeface="Arimo Bold"/>
                <a:ea typeface="Arimo Bold"/>
                <a:cs typeface="Arimo Bold"/>
                <a:sym typeface="Arimo Bold"/>
              </a:rPr>
              <a:t>The Field: </a:t>
            </a:r>
            <a:r>
              <a:rPr lang="en-US" sz="1875">
                <a:solidFill>
                  <a:srgbClr val="474238"/>
                </a:solidFill>
                <a:latin typeface="Arimo"/>
                <a:ea typeface="Arimo"/>
                <a:cs typeface="Arimo"/>
                <a:sym typeface="Arimo"/>
              </a:rPr>
              <a:t>all 12,288 neurons of the 8M model, drawn live; four views; click any neuron to see its synapses. Live.</a:t>
            </a:r>
          </a:p>
        </p:txBody>
      </p:sp>
      <p:grpSp>
        <p:nvGrpSpPr>
          <p:cNvPr name="Group 8" id="8"/>
          <p:cNvGrpSpPr/>
          <p:nvPr/>
        </p:nvGrpSpPr>
        <p:grpSpPr>
          <a:xfrm rot="0">
            <a:off x="6578565" y="2346008"/>
            <a:ext cx="5130765" cy="2885961"/>
            <a:chOff x="0" y="0"/>
            <a:chExt cx="6841020" cy="3847948"/>
          </a:xfrm>
        </p:grpSpPr>
        <p:sp>
          <p:nvSpPr>
            <p:cNvPr name="Freeform 9" id="9"/>
            <p:cNvSpPr/>
            <p:nvPr/>
          </p:nvSpPr>
          <p:spPr>
            <a:xfrm flipH="false" flipV="false" rot="0">
              <a:off x="0" y="0"/>
              <a:ext cx="6840982" cy="3847973"/>
            </a:xfrm>
            <a:custGeom>
              <a:avLst/>
              <a:gdLst/>
              <a:ahLst/>
              <a:cxnLst/>
              <a:rect r="r" b="b" t="t" l="l"/>
              <a:pathLst>
                <a:path h="3847973" w="6840982">
                  <a:moveTo>
                    <a:pt x="0" y="355600"/>
                  </a:moveTo>
                  <a:cubicBezTo>
                    <a:pt x="0" y="159258"/>
                    <a:pt x="159258" y="0"/>
                    <a:pt x="355600" y="0"/>
                  </a:cubicBezTo>
                  <a:lnTo>
                    <a:pt x="6485382" y="0"/>
                  </a:lnTo>
                  <a:cubicBezTo>
                    <a:pt x="6681724" y="0"/>
                    <a:pt x="6840982" y="159258"/>
                    <a:pt x="6840982" y="355600"/>
                  </a:cubicBezTo>
                  <a:lnTo>
                    <a:pt x="6840982" y="3492373"/>
                  </a:lnTo>
                  <a:cubicBezTo>
                    <a:pt x="6840982" y="3688715"/>
                    <a:pt x="6681724" y="3847973"/>
                    <a:pt x="6485382" y="3847973"/>
                  </a:cubicBezTo>
                  <a:lnTo>
                    <a:pt x="355600" y="3847973"/>
                  </a:lnTo>
                  <a:cubicBezTo>
                    <a:pt x="159258" y="3847973"/>
                    <a:pt x="0" y="3688715"/>
                    <a:pt x="0" y="3492373"/>
                  </a:cubicBezTo>
                  <a:close/>
                </a:path>
              </a:pathLst>
            </a:custGeom>
            <a:solidFill>
              <a:srgbClr val="0E0D0C"/>
            </a:solidFill>
          </p:spPr>
        </p:sp>
      </p:grpSp>
      <p:grpSp>
        <p:nvGrpSpPr>
          <p:cNvPr name="Group 10" id="10"/>
          <p:cNvGrpSpPr/>
          <p:nvPr/>
        </p:nvGrpSpPr>
        <p:grpSpPr>
          <a:xfrm rot="0">
            <a:off x="6578565" y="2346008"/>
            <a:ext cx="5130765" cy="2885961"/>
            <a:chOff x="0" y="0"/>
            <a:chExt cx="6841020" cy="3847948"/>
          </a:xfrm>
        </p:grpSpPr>
        <p:sp>
          <p:nvSpPr>
            <p:cNvPr name="Freeform 11" id="11" descr="preencoded.png"/>
            <p:cNvSpPr/>
            <p:nvPr/>
          </p:nvSpPr>
          <p:spPr>
            <a:xfrm flipH="false" flipV="false" rot="0">
              <a:off x="0" y="0"/>
              <a:ext cx="6840982" cy="3847973"/>
            </a:xfrm>
            <a:custGeom>
              <a:avLst/>
              <a:gdLst/>
              <a:ahLst/>
              <a:cxnLst/>
              <a:rect r="r" b="b" t="t" l="l"/>
              <a:pathLst>
                <a:path h="3847973" w="6840982">
                  <a:moveTo>
                    <a:pt x="0" y="0"/>
                  </a:moveTo>
                  <a:lnTo>
                    <a:pt x="6840982" y="0"/>
                  </a:lnTo>
                  <a:lnTo>
                    <a:pt x="6840982" y="3847973"/>
                  </a:lnTo>
                  <a:lnTo>
                    <a:pt x="0" y="3847973"/>
                  </a:lnTo>
                  <a:lnTo>
                    <a:pt x="0" y="0"/>
                  </a:lnTo>
                  <a:close/>
                </a:path>
              </a:pathLst>
            </a:custGeom>
            <a:blipFill>
              <a:blip r:embed="rId4"/>
              <a:stretch>
                <a:fillRect l="0" t="0" r="0" b="-2"/>
              </a:stretch>
            </a:blipFill>
          </p:spPr>
        </p:sp>
      </p:grpSp>
      <p:sp>
        <p:nvSpPr>
          <p:cNvPr name="TextBox 12" id="12"/>
          <p:cNvSpPr txBox="true"/>
          <p:nvPr/>
        </p:nvSpPr>
        <p:spPr>
          <a:xfrm rot="0">
            <a:off x="6603959" y="5367852"/>
            <a:ext cx="5233883" cy="1044578"/>
          </a:xfrm>
          <a:prstGeom prst="rect">
            <a:avLst/>
          </a:prstGeom>
        </p:spPr>
        <p:txBody>
          <a:bodyPr anchor="t" rtlCol="false" tIns="0" lIns="0" bIns="0" rIns="0">
            <a:spAutoFit/>
          </a:bodyPr>
          <a:lstStyle/>
          <a:p>
            <a:pPr algn="l">
              <a:lnSpc>
                <a:spcPts val="2590"/>
              </a:lnSpc>
            </a:pPr>
            <a:r>
              <a:rPr lang="en-US" sz="1875" b="true">
                <a:solidFill>
                  <a:srgbClr val="201E1D"/>
                </a:solidFill>
                <a:latin typeface="Arimo Bold"/>
                <a:ea typeface="Arimo Bold"/>
                <a:cs typeface="Arimo Bold"/>
                <a:sym typeface="Arimo Bold"/>
              </a:rPr>
              <a:t>The Loop: </a:t>
            </a:r>
            <a:r>
              <a:rPr lang="en-US" sz="1875">
                <a:solidFill>
                  <a:srgbClr val="474238"/>
                </a:solidFill>
                <a:latin typeface="Arimo"/>
                <a:ea typeface="Arimo"/>
                <a:cs typeface="Arimo"/>
                <a:sym typeface="Arimo"/>
              </a:rPr>
              <a:t>one iteration in eight stops; every edge is weight × activation. Replayed from our exported tensors.</a:t>
            </a:r>
          </a:p>
        </p:txBody>
      </p:sp>
      <p:grpSp>
        <p:nvGrpSpPr>
          <p:cNvPr name="Group 13" id="13"/>
          <p:cNvGrpSpPr/>
          <p:nvPr/>
        </p:nvGrpSpPr>
        <p:grpSpPr>
          <a:xfrm rot="0">
            <a:off x="12090321" y="2346008"/>
            <a:ext cx="5130765" cy="2885961"/>
            <a:chOff x="0" y="0"/>
            <a:chExt cx="6841020" cy="3847948"/>
          </a:xfrm>
        </p:grpSpPr>
        <p:sp>
          <p:nvSpPr>
            <p:cNvPr name="Freeform 14" id="14"/>
            <p:cNvSpPr/>
            <p:nvPr/>
          </p:nvSpPr>
          <p:spPr>
            <a:xfrm flipH="false" flipV="false" rot="0">
              <a:off x="0" y="0"/>
              <a:ext cx="6840982" cy="3847973"/>
            </a:xfrm>
            <a:custGeom>
              <a:avLst/>
              <a:gdLst/>
              <a:ahLst/>
              <a:cxnLst/>
              <a:rect r="r" b="b" t="t" l="l"/>
              <a:pathLst>
                <a:path h="3847973" w="6840982">
                  <a:moveTo>
                    <a:pt x="0" y="355600"/>
                  </a:moveTo>
                  <a:cubicBezTo>
                    <a:pt x="0" y="159258"/>
                    <a:pt x="159258" y="0"/>
                    <a:pt x="355600" y="0"/>
                  </a:cubicBezTo>
                  <a:lnTo>
                    <a:pt x="6485382" y="0"/>
                  </a:lnTo>
                  <a:cubicBezTo>
                    <a:pt x="6681724" y="0"/>
                    <a:pt x="6840982" y="159258"/>
                    <a:pt x="6840982" y="355600"/>
                  </a:cubicBezTo>
                  <a:lnTo>
                    <a:pt x="6840982" y="3492373"/>
                  </a:lnTo>
                  <a:cubicBezTo>
                    <a:pt x="6840982" y="3688715"/>
                    <a:pt x="6681724" y="3847973"/>
                    <a:pt x="6485382" y="3847973"/>
                  </a:cubicBezTo>
                  <a:lnTo>
                    <a:pt x="355600" y="3847973"/>
                  </a:lnTo>
                  <a:cubicBezTo>
                    <a:pt x="159258" y="3847973"/>
                    <a:pt x="0" y="3688715"/>
                    <a:pt x="0" y="3492373"/>
                  </a:cubicBezTo>
                  <a:close/>
                </a:path>
              </a:pathLst>
            </a:custGeom>
            <a:solidFill>
              <a:srgbClr val="0E0D0C"/>
            </a:solidFill>
          </p:spPr>
        </p:sp>
      </p:grpSp>
      <p:grpSp>
        <p:nvGrpSpPr>
          <p:cNvPr name="Group 15" id="15"/>
          <p:cNvGrpSpPr/>
          <p:nvPr/>
        </p:nvGrpSpPr>
        <p:grpSpPr>
          <a:xfrm rot="0">
            <a:off x="12090321" y="2346008"/>
            <a:ext cx="5130765" cy="2885961"/>
            <a:chOff x="0" y="0"/>
            <a:chExt cx="6841020" cy="3847948"/>
          </a:xfrm>
        </p:grpSpPr>
        <p:sp>
          <p:nvSpPr>
            <p:cNvPr name="Freeform 16" id="16" descr="preencoded.png"/>
            <p:cNvSpPr/>
            <p:nvPr/>
          </p:nvSpPr>
          <p:spPr>
            <a:xfrm flipH="false" flipV="false" rot="0">
              <a:off x="0" y="0"/>
              <a:ext cx="6840982" cy="3847973"/>
            </a:xfrm>
            <a:custGeom>
              <a:avLst/>
              <a:gdLst/>
              <a:ahLst/>
              <a:cxnLst/>
              <a:rect r="r" b="b" t="t" l="l"/>
              <a:pathLst>
                <a:path h="3847973" w="6840982">
                  <a:moveTo>
                    <a:pt x="0" y="0"/>
                  </a:moveTo>
                  <a:lnTo>
                    <a:pt x="6840982" y="0"/>
                  </a:lnTo>
                  <a:lnTo>
                    <a:pt x="6840982" y="3847973"/>
                  </a:lnTo>
                  <a:lnTo>
                    <a:pt x="0" y="3847973"/>
                  </a:lnTo>
                  <a:lnTo>
                    <a:pt x="0" y="0"/>
                  </a:lnTo>
                  <a:close/>
                </a:path>
              </a:pathLst>
            </a:custGeom>
            <a:blipFill>
              <a:blip r:embed="rId5"/>
              <a:stretch>
                <a:fillRect l="0" t="0" r="0" b="-2"/>
              </a:stretch>
            </a:blipFill>
          </p:spPr>
        </p:sp>
      </p:grpSp>
      <p:sp>
        <p:nvSpPr>
          <p:cNvPr name="TextBox 17" id="17"/>
          <p:cNvSpPr txBox="true"/>
          <p:nvPr/>
        </p:nvSpPr>
        <p:spPr>
          <a:xfrm rot="0">
            <a:off x="12115724" y="5367852"/>
            <a:ext cx="5233883" cy="1044578"/>
          </a:xfrm>
          <a:prstGeom prst="rect">
            <a:avLst/>
          </a:prstGeom>
        </p:spPr>
        <p:txBody>
          <a:bodyPr anchor="t" rtlCol="false" tIns="0" lIns="0" bIns="0" rIns="0">
            <a:spAutoFit/>
          </a:bodyPr>
          <a:lstStyle/>
          <a:p>
            <a:pPr algn="l">
              <a:lnSpc>
                <a:spcPts val="2590"/>
              </a:lnSpc>
            </a:pPr>
            <a:r>
              <a:rPr lang="en-US" sz="1875" b="true">
                <a:solidFill>
                  <a:srgbClr val="201E1D"/>
                </a:solidFill>
                <a:latin typeface="Arimo Bold"/>
                <a:ea typeface="Arimo Bold"/>
                <a:cs typeface="Arimo Bold"/>
                <a:sym typeface="Arimo Bold"/>
              </a:rPr>
              <a:t>The Price: </a:t>
            </a:r>
            <a:r>
              <a:rPr lang="en-US" sz="1875">
                <a:solidFill>
                  <a:srgbClr val="474238"/>
                </a:solidFill>
                <a:latin typeface="Arimo"/>
                <a:ea typeface="Arimo"/>
                <a:cs typeface="Arimo"/>
                <a:sym typeface="Arimo"/>
              </a:rPr>
              <a:t>the live 131K model — remove one demonstration and the answer flips; then the ablations and the capacity slider. Live.</a:t>
            </a:r>
          </a:p>
        </p:txBody>
      </p:sp>
      <p:grpSp>
        <p:nvGrpSpPr>
          <p:cNvPr name="Group 18" id="18"/>
          <p:cNvGrpSpPr/>
          <p:nvPr/>
        </p:nvGrpSpPr>
        <p:grpSpPr>
          <a:xfrm rot="0">
            <a:off x="2328691" y="6576819"/>
            <a:ext cx="11239500" cy="1618298"/>
            <a:chOff x="0" y="0"/>
            <a:chExt cx="14986000" cy="2157730"/>
          </a:xfrm>
        </p:grpSpPr>
        <p:sp>
          <p:nvSpPr>
            <p:cNvPr name="Freeform 19" id="19"/>
            <p:cNvSpPr/>
            <p:nvPr/>
          </p:nvSpPr>
          <p:spPr>
            <a:xfrm flipH="false" flipV="false" rot="0">
              <a:off x="0" y="0"/>
              <a:ext cx="14986000" cy="2157730"/>
            </a:xfrm>
            <a:custGeom>
              <a:avLst/>
              <a:gdLst/>
              <a:ahLst/>
              <a:cxnLst/>
              <a:rect r="r" b="b" t="t" l="l"/>
              <a:pathLst>
                <a:path h="2157730" w="14986000">
                  <a:moveTo>
                    <a:pt x="0" y="1078865"/>
                  </a:moveTo>
                  <a:cubicBezTo>
                    <a:pt x="0" y="482981"/>
                    <a:pt x="482981" y="0"/>
                    <a:pt x="1078865" y="0"/>
                  </a:cubicBezTo>
                  <a:lnTo>
                    <a:pt x="13907134" y="0"/>
                  </a:lnTo>
                  <a:cubicBezTo>
                    <a:pt x="14503019" y="0"/>
                    <a:pt x="14986000" y="482981"/>
                    <a:pt x="14986000" y="1078865"/>
                  </a:cubicBezTo>
                  <a:cubicBezTo>
                    <a:pt x="14986000" y="1674749"/>
                    <a:pt x="14503019" y="2157730"/>
                    <a:pt x="13907136" y="2157730"/>
                  </a:cubicBezTo>
                  <a:lnTo>
                    <a:pt x="1078865" y="2157730"/>
                  </a:lnTo>
                  <a:cubicBezTo>
                    <a:pt x="482981" y="2157730"/>
                    <a:pt x="0" y="1674749"/>
                    <a:pt x="0" y="1078865"/>
                  </a:cubicBezTo>
                  <a:close/>
                </a:path>
              </a:pathLst>
            </a:custGeom>
            <a:solidFill>
              <a:srgbClr val="3D472B"/>
            </a:solidFill>
          </p:spPr>
        </p:sp>
      </p:grpSp>
      <p:sp>
        <p:nvSpPr>
          <p:cNvPr name="TextBox 20" id="20"/>
          <p:cNvSpPr txBox="true"/>
          <p:nvPr/>
        </p:nvSpPr>
        <p:spPr>
          <a:xfrm rot="0">
            <a:off x="6197565" y="6882835"/>
            <a:ext cx="3604593" cy="815765"/>
          </a:xfrm>
          <a:prstGeom prst="rect">
            <a:avLst/>
          </a:prstGeom>
        </p:spPr>
        <p:txBody>
          <a:bodyPr anchor="t" rtlCol="false" tIns="0" lIns="0" bIns="0" rIns="0">
            <a:spAutoFit/>
          </a:bodyPr>
          <a:lstStyle/>
          <a:p>
            <a:pPr algn="l">
              <a:lnSpc>
                <a:spcPts val="6731"/>
              </a:lnSpc>
            </a:pPr>
            <a:r>
              <a:rPr lang="en-US" sz="4149">
                <a:solidFill>
                  <a:srgbClr val="F5EAD8"/>
                </a:solidFill>
                <a:latin typeface="Arimo"/>
                <a:ea typeface="Arimo"/>
                <a:cs typeface="Arimo"/>
                <a:sym typeface="Arimo"/>
              </a:rPr>
              <a:t>Live demo</a:t>
            </a:r>
          </a:p>
        </p:txBody>
      </p:sp>
      <p:grpSp>
        <p:nvGrpSpPr>
          <p:cNvPr name="Group 21" id="21"/>
          <p:cNvGrpSpPr/>
          <p:nvPr/>
        </p:nvGrpSpPr>
        <p:grpSpPr>
          <a:xfrm rot="0">
            <a:off x="11967324" y="9456420"/>
            <a:ext cx="5253876" cy="506730"/>
            <a:chOff x="0" y="0"/>
            <a:chExt cx="7005168" cy="675640"/>
          </a:xfrm>
        </p:grpSpPr>
        <p:sp>
          <p:nvSpPr>
            <p:cNvPr name="Freeform 22" id="22"/>
            <p:cNvSpPr/>
            <p:nvPr/>
          </p:nvSpPr>
          <p:spPr>
            <a:xfrm flipH="false" flipV="false" rot="0">
              <a:off x="0" y="0"/>
              <a:ext cx="7005193" cy="675640"/>
            </a:xfrm>
            <a:custGeom>
              <a:avLst/>
              <a:gdLst/>
              <a:ahLst/>
              <a:cxnLst/>
              <a:rect r="r" b="b" t="t" l="l"/>
              <a:pathLst>
                <a:path h="675640" w="7005193">
                  <a:moveTo>
                    <a:pt x="0" y="337820"/>
                  </a:moveTo>
                  <a:cubicBezTo>
                    <a:pt x="0" y="151257"/>
                    <a:pt x="151257" y="0"/>
                    <a:pt x="337820" y="0"/>
                  </a:cubicBezTo>
                  <a:lnTo>
                    <a:pt x="6667373" y="0"/>
                  </a:lnTo>
                  <a:cubicBezTo>
                    <a:pt x="6853936" y="0"/>
                    <a:pt x="7005193" y="151257"/>
                    <a:pt x="7005193" y="337820"/>
                  </a:cubicBezTo>
                  <a:cubicBezTo>
                    <a:pt x="7005193" y="524383"/>
                    <a:pt x="6853936" y="675640"/>
                    <a:pt x="6667373" y="675640"/>
                  </a:cubicBezTo>
                  <a:lnTo>
                    <a:pt x="337820" y="675640"/>
                  </a:lnTo>
                  <a:cubicBezTo>
                    <a:pt x="151257" y="675640"/>
                    <a:pt x="0" y="524383"/>
                    <a:pt x="0" y="337820"/>
                  </a:cubicBezTo>
                  <a:close/>
                </a:path>
              </a:pathLst>
            </a:custGeom>
            <a:solidFill>
              <a:srgbClr val="EBDDC5"/>
            </a:solidFill>
          </p:spPr>
        </p:sp>
      </p:grpSp>
      <p:grpSp>
        <p:nvGrpSpPr>
          <p:cNvPr name="Group 23" id="23"/>
          <p:cNvGrpSpPr/>
          <p:nvPr/>
        </p:nvGrpSpPr>
        <p:grpSpPr>
          <a:xfrm rot="0">
            <a:off x="11967324" y="9456420"/>
            <a:ext cx="5253876" cy="506730"/>
            <a:chOff x="0" y="0"/>
            <a:chExt cx="7005168" cy="675640"/>
          </a:xfrm>
        </p:grpSpPr>
        <p:sp>
          <p:nvSpPr>
            <p:cNvPr name="Freeform 24" id="24" descr="preencoded.png"/>
            <p:cNvSpPr/>
            <p:nvPr/>
          </p:nvSpPr>
          <p:spPr>
            <a:xfrm flipH="false" flipV="false" rot="0">
              <a:off x="0" y="0"/>
              <a:ext cx="7005193" cy="675640"/>
            </a:xfrm>
            <a:custGeom>
              <a:avLst/>
              <a:gdLst/>
              <a:ahLst/>
              <a:cxnLst/>
              <a:rect r="r" b="b" t="t" l="l"/>
              <a:pathLst>
                <a:path h="675640" w="7005193">
                  <a:moveTo>
                    <a:pt x="0" y="0"/>
                  </a:moveTo>
                  <a:lnTo>
                    <a:pt x="7005193" y="0"/>
                  </a:lnTo>
                  <a:lnTo>
                    <a:pt x="7005193" y="675640"/>
                  </a:lnTo>
                  <a:lnTo>
                    <a:pt x="0" y="675640"/>
                  </a:lnTo>
                  <a:lnTo>
                    <a:pt x="0" y="0"/>
                  </a:lnTo>
                  <a:close/>
                </a:path>
              </a:pathLst>
            </a:custGeom>
            <a:blipFill>
              <a:blip r:embed="rId6"/>
              <a:stretch>
                <a:fillRect l="-180" t="0" r="-180" b="0"/>
              </a:stretch>
            </a:blipFill>
          </p:spPr>
        </p:sp>
      </p:grpSp>
      <p:sp>
        <p:nvSpPr>
          <p:cNvPr name="TextBox 25" id="25"/>
          <p:cNvSpPr txBox="true"/>
          <p:nvPr/>
        </p:nvSpPr>
        <p:spPr>
          <a:xfrm rot="0">
            <a:off x="7092494" y="4954457"/>
            <a:ext cx="4103013" cy="330460"/>
          </a:xfrm>
          <a:prstGeom prst="rect">
            <a:avLst/>
          </a:prstGeom>
        </p:spPr>
        <p:txBody>
          <a:bodyPr anchor="t" rtlCol="false" tIns="0" lIns="0" bIns="0" rIns="0">
            <a:spAutoFit/>
          </a:bodyPr>
          <a:lstStyle/>
          <a:p>
            <a:pPr algn="ctr">
              <a:lnSpc>
                <a:spcPts val="2497"/>
              </a:lnSpc>
              <a:spcBef>
                <a:spcPct val="0"/>
              </a:spcBef>
            </a:pPr>
            <a:r>
              <a:rPr lang="en-US" sz="1875">
                <a:solidFill>
                  <a:srgbClr val="000000"/>
                </a:solidFill>
                <a:latin typeface="Arimo"/>
                <a:ea typeface="Arimo"/>
                <a:cs typeface="Arimo"/>
                <a:sym typeface="Arimo"/>
              </a:rPr>
              <a:t>demonstrations-are-weights.vercel.app</a:t>
            </a:r>
          </a:p>
        </p:txBody>
      </p:sp>
      <p:sp>
        <p:nvSpPr>
          <p:cNvPr name="TextBox 26" id="26"/>
          <p:cNvSpPr txBox="true"/>
          <p:nvPr/>
        </p:nvSpPr>
        <p:spPr>
          <a:xfrm rot="0">
            <a:off x="2039191" y="8271317"/>
            <a:ext cx="11818501" cy="807085"/>
          </a:xfrm>
          <a:prstGeom prst="rect">
            <a:avLst/>
          </a:prstGeom>
        </p:spPr>
        <p:txBody>
          <a:bodyPr anchor="t" rtlCol="false" tIns="0" lIns="0" bIns="0" rIns="0">
            <a:spAutoFit/>
          </a:bodyPr>
          <a:lstStyle/>
          <a:p>
            <a:pPr algn="l">
              <a:lnSpc>
                <a:spcPts val="6439"/>
              </a:lnSpc>
            </a:pPr>
            <a:r>
              <a:rPr lang="en-US" sz="4599" u="sng">
                <a:solidFill>
                  <a:srgbClr val="000000"/>
                </a:solidFill>
                <a:latin typeface="Arimo"/>
                <a:ea typeface="Arimo"/>
                <a:cs typeface="Arimo"/>
                <a:sym typeface="Arimo"/>
                <a:hlinkClick r:id="rId7" tooltip="https://demonstrations-are-weights.vercel.app"/>
              </a:rPr>
              <a:t>https://demonstrations-are-weights.vercel.app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DAHVmU7gSlM</dc:identifier>
  <dcterms:modified xsi:type="dcterms:W3CDTF">2011-08-01T06:04:30Z</dcterms:modified>
  <cp:revision>1</cp:revision>
  <dc:title>Hatchling is All We Need</dc:title>
</cp:coreProperties>
</file>